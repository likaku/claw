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2026 全球大趋势：在碎片化世界中寻找新范式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特朗普2.0时代的全球重构、AI的落地考量与经济气候的临界点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战略研究部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3657600" cy="25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2026年标志着旧有全球秩序的彻底终结，企业和国家必须在"地缘政治高度碎片化"与"技术红利深度下沉"的夹击中寻找生存之道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**地缘政治**：美国走向孤立与交易型外交，中国加速布局全球南方，欧洲被迫军事觉醒。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**全球经济**：关税引发供应链"敏捷重构"，高赤字导致债券市场面临灰犀牛风险，全球步入2.4%的平庸增长期。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**技术演进**：AI从"狂热投资"转向"企业ROI落地"，底层白领岗位面临系统性消失。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**社会与环境**：1.5°C气候红线被正式突破，廉价GLP-1减肥药重塑全球健康版图。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地缘政治碎片化 — 多极世界加速形成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经济平庸增长 — 债券灰犀牛潜伏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AI务实落地 — 组织架构重塑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气候超调时代 — 适应胜于预防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综合分析, 2026年3月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第一部分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地缘政治的碎片化与重构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美国孤立、中国崛起、欧洲觉醒的三重变奏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特朗普2.0时代以"交易"取代"盟友价值观"，重创多边贸易体系并引发全球防御性对冲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特朗普2.0政策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全球影响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**外交策略**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关税大棒+利益交换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盟友信任崩塌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**中东政策**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停火施压换取利益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传统秩序瓦解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**国内政治**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总统权力空前扩张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建国250年分裂顶峰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**美联储**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独立性面临挑战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货币政策政治化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核心判断：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外交不再基于战略同盟，而是通过关税和利益交换解决问题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各国无法再依赖美国的"安全伞"，必须两头下注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建国250周年之际，美国内部分裂达到历史顶峰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国际战略研究所, 2026</a:t>
            </a:r>
          </a:p>
        </p:txBody>
      </p:sp>
      <p:pic>
        <p:nvPicPr>
          <p:cNvPr id="34" name="Picture 3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面对美国的不可预测性，中国正以"确定性"和"AI/绿色技术输出"加速抢占亚洲与全球南方市场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497" y="1325880"/>
            <a:ext cx="12700" cy="425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67247" y="322326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传统路径依赖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依赖欧美消费市场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承接低端制造业转移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跟随国际规则体系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技术跟随与模仿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新战略布局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192024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全球南方市场多元化（东盟/拉美/非洲）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AI与绿色技术输出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填补美国退群留下的真空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APEC传递"确定性"信号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2026 APEC峰会展望; 商务部数据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由于失去美国的绝对保护，欧洲被迫开启冷战后最大规模的重新武装，但经济低迷正滋生政治动荡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454298" cy="43891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454298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52929" y="146304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5F"/>
                </a:solidFill>
                <a:latin typeface="Arial"/>
              </a:defRPr>
            </a:pPr>
            <a:r>
              <a:rPr>
                <a:ea typeface="KaiTi"/>
              </a:rPr>
              <a:t>国防繁荣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到2028年国防支出激增</a:t>
            </a:r>
            <a:br/>
            <a:r>
              <a:rPr>
                <a:ea typeface="KaiTi"/>
              </a:rPr>
              <a:t>  7000-8000亿欧元</a:t>
            </a:r>
            <a:br/>
            <a:r>
              <a:rPr>
                <a:ea typeface="KaiTi"/>
              </a:rPr>
              <a:t>• 部分国家迈向3.5% GDP目标</a:t>
            </a:r>
            <a:br/>
            <a:r>
              <a:rPr>
                <a:ea typeface="KaiTi"/>
              </a:rPr>
              <a:t>• 军工产业全面复苏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280160"/>
            <a:ext cx="3454298" cy="438912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1280160"/>
            <a:ext cx="3454298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0107" y="1463040"/>
            <a:ext cx="411480" cy="4114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860B"/>
                </a:solidFill>
                <a:latin typeface="Arial"/>
              </a:defRPr>
            </a:pPr>
            <a:r>
              <a:rPr>
                <a:ea typeface="KaiTi"/>
              </a:rPr>
              <a:t>政治隐患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4458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1578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德国AfD突破"防火墙"</a:t>
            </a:r>
            <a:br/>
            <a:r>
              <a:rPr>
                <a:ea typeface="KaiTi"/>
              </a:rPr>
              <a:t>• 法国民粹主义执政风险</a:t>
            </a:r>
            <a:br/>
            <a:r>
              <a:rPr>
                <a:ea typeface="KaiTi"/>
              </a:rPr>
              <a:t>• 宪政危机阴影笼罩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5876" y="1280160"/>
            <a:ext cx="3454298" cy="4389120"/>
          </a:xfrm>
          <a:prstGeom prst="rect">
            <a:avLst/>
          </a:prstGeom>
          <a:solidFill>
            <a:srgbClr val="FDF5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5876" y="1280160"/>
            <a:ext cx="3454298" cy="5486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27285" y="1463040"/>
            <a:ext cx="411480" cy="41148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756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4513"/>
                </a:solidFill>
                <a:latin typeface="Arial"/>
              </a:defRPr>
            </a:pPr>
            <a:r>
              <a:rPr>
                <a:ea typeface="KaiTi"/>
              </a:rPr>
              <a:t>经济困境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1636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8756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能源成本高企</a:t>
            </a:r>
            <a:br/>
            <a:r>
              <a:rPr>
                <a:ea typeface="KaiTi"/>
              </a:rPr>
              <a:t>• 产业外迁加速</a:t>
            </a:r>
            <a:br/>
            <a:r>
              <a:rPr>
                <a:ea typeface="KaiTi"/>
              </a:rPr>
              <a:t>• 债务赤字失控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欧洲防务局; 欧盟统计局,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全面战争可能暂时被遏制，但"蟒蛇式"封锁、破坏行动和太空军事化等"灰地带"冲突将常态化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战场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灰地带手段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战略意图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**台海**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海警巡逻/无人机/断电缆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窒息台湾经济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**太空**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卫星监视/反卫星武器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军事角力透明化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**网络**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基础设施破坏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模糊战争边界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**贸易**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技术封锁/制裁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非对称竞争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趋势判断：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中国大陆2026年不太可能直接动武，但"蟒蛇战略"持续收紧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中美俄太空军事角力进入新阶段，卫星安全成为战略焦点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灰地带冲突模糊了战争与和平的界限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战略与国际研究中心, 2026</a:t>
            </a:r>
          </a:p>
        </p:txBody>
      </p:sp>
      <p:pic>
        <p:nvPicPr>
          <p:cNvPr id="34" name="Picture 3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全球经济与贸易的阵痛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平庸增长、债券灰犀牛与供应链重构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全球经济增速放缓至2.4%，创纪录的公共债务和高关税引发通胀粘性，债券市场成为最大风险点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2.4%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2026年全球经济增长预测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解决路径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关税推高美国通胀基数约1个百分点，限制美联储降息空间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发达经济体债务占GDP比例超110%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法国深陷预算危机，巨额赤字叠加AI基建狂潮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主权债券抛售恐慌成为最危险的灰犀牛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IMF世界经济展望; OECD数据,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跨国企业放弃等待政策明朗，被迫通过涨价、裁员（借助AI）和供应链近岸化来应对关税混乱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497" y="1325880"/>
            <a:ext cx="12700" cy="425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67247" y="322326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全球化时代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全球供应链最优配置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等待政策明朗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扩张并购战略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大规模招聘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碎片化时代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192024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28%企业实现区域化闭环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主动重构不等待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收缩并购冻结招聘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AI替代初级岗位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麦肯锡全球供应链调研,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大宗商品市场出现严重分化：化石燃料过剩，而黄金与绿色转型金属将迎来结构性牛市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黄金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57276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1572768"/>
            <a:ext cx="5829300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146304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85%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铜等清洁能源金属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16712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2167128"/>
            <a:ext cx="514350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205740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天然气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76148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761488"/>
            <a:ext cx="3086100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65176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原油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35584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355848"/>
            <a:ext cx="2400300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4612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4048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4048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粮食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95020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3950208"/>
            <a:ext cx="2057400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384048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303520"/>
            <a:ext cx="10728655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303520"/>
            <a:ext cx="137160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分化逻辑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303520"/>
            <a:ext cx="8625535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黄金可能突破4500美元/盎司（地缘焦虑+通胀威胁）；铜因关税和电网需求剧烈波动看涨；原油粮食承压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大宗商品市场分析, 2026</a:t>
            </a:r>
          </a:p>
        </p:txBody>
      </p:sp>
      <p:pic>
        <p:nvPicPr>
          <p:cNvPr id="32" name="Picture 3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印度在2026年将超越日本成为全球第四大经济体，但人均GDP与生活质量的鸿沟依然巨大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印度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对比日本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**GDP排名**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  <a:ea typeface="KaiTi"/>
              </a:rPr>
              <a:t>全球第4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跌至第5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**人口规模**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14亿+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1.25亿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**人均GDP**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~$2,500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~$34,000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**改革亮点**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16年来首次人口普查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老龄化困境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关键变化：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印度GDP迎来里程碑，人口普查将重塑种姓配额和政治版图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阿根廷（米莱改革）和越南（私营部门改革）展现突围潜力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新兴市场通过激进国内改革寻求新增长点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世界银行; IMF数据, 2026</a:t>
            </a:r>
          </a:p>
        </p:txBody>
      </p:sp>
      <p:pic>
        <p:nvPicPr>
          <p:cNvPr id="34" name="Picture 3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第三部分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技术范式从"炒作"转向"落地"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AI投资回报大考、白领岗位消失与组织重塑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科技巨头在AI基建上砸下数千亿美元，2026年市场将无情地拷问AI在企业端实际的"生产力转化率"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现状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2026趋势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**投资规模**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数千亿美元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ROI大考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**试点失败率**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高达95%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端到端智能体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**估值风险**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科技股高估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破灭隐忧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**应用重点**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概念炒作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生产力转化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关键转折：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如果AI效率提升无法体现在财报中，科技股估值面临破灭风险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企业AI试点失败率曾高达95%，2026年重点是端到端AI智能体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AI从"烧钱买算力"转向"证明投资回报"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Gartner; 科技财报分析, 2026</a:t>
            </a:r>
          </a:p>
        </p:txBody>
      </p:sp>
      <p:pic>
        <p:nvPicPr>
          <p:cNvPr id="34" name="Picture 3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应届毕业生面临地狱模式，AI不仅替代了初级岗位，更将企业组织架构从"金字塔型"压缩为"钻石型"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497" y="1325880"/>
            <a:ext cx="12700" cy="425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67247" y="322326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传统金字塔组织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大量初级员工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中层管理者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少数高管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清晰的晋升阶梯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钻石型组织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192024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初级岗位被AI替代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资深员工+AI杠杆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精简高效团队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新人失去"垫脚石"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麦肯锡全球劳动力报告,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面对美国的芯片禁令，中国并未退缩，而是在算力效率优化与行业大模型应用上跑出了"中国速度"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454298" cy="43891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454298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52929" y="146304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5F"/>
                </a:solidFill>
                <a:latin typeface="Arial"/>
              </a:defRPr>
            </a:pPr>
            <a:r>
              <a:rPr>
                <a:ea typeface="KaiTi"/>
              </a:rPr>
              <a:t>芯片自强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FP8低精度格式</a:t>
            </a:r>
            <a:br/>
            <a:r>
              <a:rPr>
                <a:ea typeface="KaiTi"/>
              </a:rPr>
              <a:t>• 软硬件深度结合</a:t>
            </a:r>
            <a:br/>
            <a:r>
              <a:rPr>
                <a:ea typeface="KaiTi"/>
              </a:rPr>
              <a:t>• 国产AI芯片份额</a:t>
            </a:r>
            <a:br/>
            <a:r>
              <a:rPr>
                <a:ea typeface="KaiTi"/>
              </a:rPr>
              <a:t>  突破50%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280160"/>
            <a:ext cx="3454298" cy="4389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1280160"/>
            <a:ext cx="3454298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0107" y="1463040"/>
            <a:ext cx="411480" cy="41148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7C59"/>
                </a:solidFill>
                <a:latin typeface="Arial"/>
              </a:defRPr>
            </a:pPr>
            <a:r>
              <a:rPr>
                <a:ea typeface="KaiTi"/>
              </a:rPr>
              <a:t>AI+战略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4458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1578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第15个五年计划</a:t>
            </a:r>
            <a:br/>
            <a:r>
              <a:rPr>
                <a:ea typeface="KaiTi"/>
              </a:rPr>
              <a:t>• AI如电力嵌入产业</a:t>
            </a:r>
            <a:br/>
            <a:r>
              <a:rPr>
                <a:ea typeface="KaiTi"/>
              </a:rPr>
              <a:t>• 工业/医疗/政务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5876" y="1280160"/>
            <a:ext cx="3454298" cy="438912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5876" y="1280160"/>
            <a:ext cx="3454298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27285" y="1463040"/>
            <a:ext cx="411480" cy="4114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756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860B"/>
                </a:solidFill>
                <a:latin typeface="Arial"/>
              </a:defRPr>
            </a:pPr>
            <a:r>
              <a:rPr>
                <a:ea typeface="KaiTi"/>
              </a:rPr>
              <a:t>错位竞争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1636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8756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美国追求AGI</a:t>
            </a:r>
            <a:br/>
            <a:r>
              <a:rPr>
                <a:ea typeface="KaiTi"/>
              </a:rPr>
              <a:t>• 中国深耕应用</a:t>
            </a:r>
            <a:br/>
            <a:r>
              <a:rPr>
                <a:ea typeface="KaiTi"/>
              </a:rPr>
              <a:t>• 行业大模型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十五五规划纲要; 科技部数据, 2026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人形机器人走出实验室，通过进入家庭和工厂收集"物理世界数据"，推动自动化向实体经济渗透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**核心突破**：仅靠虚拟环境无法解决机器人的"盲人体操运动员"困境。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**数据采集策略**：企业（如1x, Tesla）正通过将数万台机器人投放市场来获取真实的物理交互数据。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**产业影响**：从实验室走向家庭和工厂，具身智能成为实体经济自动化的关键突破口。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**投资热点**：人形机器人赛道成为资本竞相追逐的新蓝海。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物理世界数据成为AI下一阶段核心瓶颈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具身智能从实验室走向规模化部署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实体经济自动化迎来新范式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科技投资分析,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第四部分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社会、健康与环境的临界点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气候超调、减肥药革命与移民倒退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1.5°C的气候变暖防线在2026年将大概率被正式突破，全球被迫进入昂贵且危险的气候"超调"期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1.5°C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气候变暖防线正式突破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解决路径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剩余碳预算已耗尽，政策重点从"预防"转向"适应"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碳捕获技术（负排放）成为昂贵但必须的选项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地热能凭借EGS压裂技术突破，超越核能潜力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全球进入气候"超调"时代的适应生存模式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IPCC第六次评估报告; 国际能源署,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海平面上升正在重塑国际法，图瓦卢居民作为全球首批官方认证的气候难民正式迁往澳大利亚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传统定义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新范式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**国家主权**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依赖物理领土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与领土解绑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**公民身份**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与土地绑定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数字/离散公民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**经济权利**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领土内资源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海洋专属区保留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**国际地位**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领土消失=国家消失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联合国席位保留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历史性突破：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国家的存在首次不再依赖于物理领土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图瓦卢即使被淹没，仍保留联合国席位和海洋经济专属区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国际法被迫适应"无领土国家"的新现实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联合国气候变化框架公约, 2026</a:t>
            </a:r>
          </a:p>
        </p:txBody>
      </p:sp>
      <p:pic>
        <p:nvPicPr>
          <p:cNvPr id="34" name="Picture 3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20/20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专利悬崖到来，廉价仿制药与口服剂型的普及将使GLP-1减肥药真正惠及全球，颠覆医疗与消费格局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497" y="1325880"/>
            <a:ext cx="12700" cy="425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67247" y="322326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专利时代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司美格鲁肽高价垄断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欧美富人专属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年治疗费数千美元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注射剂型为主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平民化时代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192024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中印仿制药低价供应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成本降低80%+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口服剂型普及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全球普惠可及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医药行业分析; 专利数据库, 2026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21/20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特朗普政府开启史无前例的大规模驱逐行动，严重损害美国的高等教育吸引力与科技人才储备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政策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直接影响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长期隐患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**大规模驱逐**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移民社区恐慌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劳动力短缺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**签证收紧**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留学生锐减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科研人才流失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**高等教育**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入学率下降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竞争力削弱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**科技创新**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人才外流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AI领域落后风险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战略误判：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驱逐行动和签证收紧导致科研机构流失顶尖大脑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直接削弱美国在AI和创新领域的长远竞争力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美国高等教育全球吸引力遭受重创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美国高等教育协会; 移民政策研究, 2026</a:t>
            </a:r>
          </a:p>
        </p:txBody>
      </p:sp>
      <p:pic>
        <p:nvPicPr>
          <p:cNvPr id="34" name="Picture 3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22/20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第五部分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战略启示与行动指南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赢家输家大洗牌与高管行动清单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23/20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在剧烈变动的宏观环境中，资产类别与商业主体的命运发生大洗牌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类型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赢家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输家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**企业**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AI+降本增效企业、国防军工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依赖补贴的欧洲整车厂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**国家**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印度、越南等供应链替代国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债台高筑的西方政府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69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**资产**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黄金、铜矿、廉价减肥药企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069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葡萄酒、高糖食品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12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**人群**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资深员工+AI杠杆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5212080"/>
            <a:ext cx="2194560" cy="11430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初级白领应届生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命运分化：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拥抱变化者生存：AI+企业、国防军工、新兴市场崛起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固守旧模式者衰落：依赖补贴、传统消费、初级岗位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投资新红利：老龄化+减肥药+全球南方增量市场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综合分析, 2026</a:t>
            </a:r>
          </a:p>
        </p:txBody>
      </p:sp>
      <p:pic>
        <p:nvPicPr>
          <p:cNvPr id="34" name="Picture 33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24/20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面对不可预测的2026，企业领导者必须构建具备极高容错率的弹性战略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545003" cy="43891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2545003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98281" y="146304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地缘避险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放弃全球化幻想</a:t>
            </a:r>
            <a:br/>
            <a:r>
              <a:rPr>
                <a:ea typeface="KaiTi"/>
              </a:rPr>
              <a:t>• 建立"区域服务区域"闭环</a:t>
            </a:r>
            <a:br/>
            <a:r>
              <a:rPr>
                <a:ea typeface="KaiTi"/>
              </a:rPr>
              <a:t>• 对冲关税突然袭击</a:t>
            </a:r>
            <a:br/>
            <a:r>
              <a:rPr>
                <a:ea typeface="KaiTi"/>
              </a:rPr>
              <a:t>• Local for Local策略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9403" y="1280160"/>
            <a:ext cx="2545003" cy="43891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1280160"/>
            <a:ext cx="2545003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165" y="146304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5F"/>
                </a:solidFill>
                <a:latin typeface="Arial"/>
              </a:defRPr>
            </a:pPr>
            <a:r>
              <a:rPr>
                <a:ea typeface="KaiTi"/>
              </a:rPr>
              <a:t>AI务实投资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25163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2283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考核真实ROI</a:t>
            </a:r>
            <a:br/>
            <a:r>
              <a:rPr>
                <a:ea typeface="KaiTi"/>
              </a:rPr>
              <a:t>• 停止概念追逐</a:t>
            </a:r>
            <a:br/>
            <a:r>
              <a:rPr>
                <a:ea typeface="KaiTi"/>
              </a:rPr>
              <a:t>• 重塑钻石型组织</a:t>
            </a:r>
            <a:br/>
            <a:r>
              <a:rPr>
                <a:ea typeface="KaiTi"/>
              </a:rPr>
              <a:t>• 中高级人才核心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1280160"/>
            <a:ext cx="2545003" cy="4389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1280160"/>
            <a:ext cx="2545003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54049" y="1463040"/>
            <a:ext cx="411480" cy="41148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7C59"/>
                </a:solidFill>
                <a:latin typeface="Arial"/>
              </a:defRPr>
            </a:pPr>
            <a:r>
              <a:rPr>
                <a:ea typeface="KaiTi"/>
              </a:rPr>
              <a:t>财务护城河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047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储备充足现金流</a:t>
            </a:r>
            <a:br/>
            <a:r>
              <a:rPr>
                <a:ea typeface="KaiTi"/>
              </a:rPr>
              <a:t>• 警惕主权债券爆雷</a:t>
            </a:r>
            <a:br/>
            <a:r>
              <a:rPr>
                <a:ea typeface="KaiTi"/>
              </a:rPr>
              <a:t>• 效仿伯克希尔模式</a:t>
            </a:r>
            <a:br/>
            <a:r>
              <a:rPr>
                <a:ea typeface="KaiTi"/>
              </a:rPr>
              <a:t>• 高容错率财务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171" y="1280160"/>
            <a:ext cx="2545003" cy="438912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171" y="1280160"/>
            <a:ext cx="2545003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81933" y="1463040"/>
            <a:ext cx="411480" cy="4114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051" y="2011680"/>
            <a:ext cx="2179243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860B"/>
                </a:solidFill>
                <a:latin typeface="Arial"/>
              </a:defRPr>
            </a:pPr>
            <a:r>
              <a:rPr>
                <a:ea typeface="KaiTi"/>
              </a:rPr>
              <a:t>捕捉新红利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0931" y="2468880"/>
            <a:ext cx="1813483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051" y="2651760"/>
            <a:ext cx="2179243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老龄化+减肥药变革</a:t>
            </a:r>
            <a:br/>
            <a:r>
              <a:rPr>
                <a:ea typeface="KaiTi"/>
              </a:rPr>
              <a:t>• 全球南方增量市场</a:t>
            </a:r>
            <a:br/>
            <a:r>
              <a:rPr>
                <a:ea typeface="KaiTi"/>
              </a:rPr>
              <a:t>• 气候适应技术</a:t>
            </a:r>
            <a:br/>
            <a:r>
              <a:rPr>
                <a:ea typeface="KaiTi"/>
              </a:rPr>
              <a:t>• 新兴消费趋势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战略咨询综合建议, 2026</a:t>
            </a:r>
          </a:p>
        </p:txBody>
      </p:sp>
      <p:pic>
        <p:nvPicPr>
          <p:cNvPr id="29" name="Picture 28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25/20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