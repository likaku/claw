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3258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8B0000"/>
                </a:solidFill>
                <a:latin typeface="Georgia"/>
              </a:defRPr>
            </a:pPr>
            <a:r>
              <a:rPr>
                <a:ea typeface="KaiTi"/>
              </a:rPr>
              <a:t>"十五五"人工智能战略规划</a:t>
            </a:r>
            <a:br/>
            <a:r>
              <a:rPr>
                <a:ea typeface="KaiTi"/>
              </a:rPr>
              <a:t>全面解读与展望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从"前沿技术"到"国家能力" — AI驱动中国式现代化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86200"/>
            <a:ext cx="100584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战略研究部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17720"/>
            <a:ext cx="100584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2026年3月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3657600" cy="254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战略定位升级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4173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AI从"产业变量"到"发展变量"的跃迁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286000"/>
            <a:ext cx="411480" cy="41148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三大底座建设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317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算力·算法·数据的三位一体基础支撑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六大赋能领域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2461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"人工智能+"全面实施的国家行动框架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114800"/>
            <a:ext cx="411480" cy="41148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148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产业规模与趋势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1605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万亿级市场的增长引擎与技术前沿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治理与展望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0749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发展与监管同步推进的中国路径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669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《中华人民共和国国民经济和社会发展第十五个五年规划纲要》, 2026年3月</a:t>
            </a:r>
          </a:p>
        </p:txBody>
      </p:sp>
      <p:pic>
        <p:nvPicPr>
          <p:cNvPr id="25" name="Picture 24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第一部分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0000"/>
                </a:solidFill>
                <a:latin typeface="Georgia"/>
              </a:defRPr>
            </a:pPr>
            <a:r>
              <a:rPr>
                <a:ea typeface="KaiTi"/>
              </a:rPr>
              <a:t>战略定位升级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人工智能从科技分支上升为国家现代化建设的核心驱动力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AI在国家战略中的角色已发生根本性转变：从"单点布局"迈向"系统推进"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维度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十四五（2021-2025）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0" y="128016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十五五（2026-2030）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658368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**战略定位**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830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前沿技术培育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7830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"/>
                <a:ea typeface="KaiTi"/>
              </a:rPr>
              <a:t>国家核心能力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974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**发展模式**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6974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技术突破为主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6974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"/>
                <a:ea typeface="KaiTi"/>
              </a:rPr>
              <a:t>产业融合+治理同步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6118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**应用范围**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6118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互联网/金融先行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6118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"/>
                <a:ea typeface="KaiTi"/>
              </a:rPr>
              <a:t>千行百业全面渗透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262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262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**政策层级**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5262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科技专项政策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5262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"/>
                <a:ea typeface="KaiTi"/>
              </a:rPr>
              <a:t>纳入国家发展顶层设计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4406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406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**组织方式**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54406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333333"/>
                </a:solidFill>
                <a:latin typeface="Arial"/>
                <a:ea typeface="KaiTi"/>
              </a:rPr>
              <a:t>单点实验验证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5440680"/>
            <a:ext cx="2194560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>
              <a:lnSpc>
                <a:spcPts val="189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00000"/>
                </a:solidFill>
                <a:latin typeface="Arial"/>
                <a:ea typeface="KaiTi"/>
              </a:rPr>
              <a:t>"人工智能+"国家行动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355080"/>
            <a:ext cx="65836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Chevron 27"/>
          <p:cNvSpPr/>
          <p:nvPr/>
        </p:nvSpPr>
        <p:spPr>
          <a:xfrm>
            <a:off x="7406640" y="3108960"/>
            <a:ext cx="457200" cy="457200"/>
          </a:xfrm>
          <a:prstGeom prst="chevron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63840" y="1188720"/>
            <a:ext cx="3687775" cy="530352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0" y="1371600"/>
            <a:ext cx="3504895" cy="4114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核心判断：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187452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187452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纲要将"数智化发展"单独成篇 — 史上首次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80" y="341376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341376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AI不再是"变量"，而是"常量" — 融入经济社会运行主流程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80" y="4953000"/>
            <a:ext cx="228600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953000"/>
            <a:ext cx="3184855" cy="1402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从"AI有多强大"到"AI如何落地、如何监管"的范式转变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新华社通稿, 中央经济工作会议, 2025年12月; 十五五规划纲要, 2026年3月</a:t>
            </a:r>
          </a:p>
        </p:txBody>
      </p:sp>
      <p:pic>
        <p:nvPicPr>
          <p:cNvPr id="38" name="Picture 37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中国AI核心产业规模在十四五期间实现跨越式增长，十五五将迈入万亿时代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00400" cy="164592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83464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1.2万亿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371600"/>
            <a:ext cx="68580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2026年中国AI核心产业规模预估（元）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114800"/>
            <a:ext cx="10728655" cy="20116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16459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解决路径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63440"/>
            <a:ext cx="10180015" cy="12801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2025年核心产业规模突破9,000亿元，企业数量达5,300家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生成式AI用户规模达5.15亿人，普及率36.5%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2025-2035年市场规模复合增长率预计达30.6%-47.1%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全国智能算力规模达1,037.3 EFLOPS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CISTE《2026人工智能发展趋势深度解析》; 艾媒咨询; Fortune Business Insights</a:t>
            </a:r>
          </a:p>
        </p:txBody>
      </p:sp>
      <p:pic>
        <p:nvPicPr>
          <p:cNvPr id="11" name="Picture 10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第二部分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0000"/>
                </a:solidFill>
                <a:latin typeface="Georgia"/>
              </a:defRPr>
            </a:pPr>
            <a:r>
              <a:rPr>
                <a:ea typeface="KaiTi"/>
              </a:rPr>
              <a:t>三大底座建设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算力·算法·数据 — 筑牢数智化发展的"三位一体"基础支撑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十五五纲要明确"算力、算法、数据"三大底座协同建设，为AI发展筑牢根基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454298" cy="4389120"/>
          </a:xfrm>
          <a:prstGeom prst="rect">
            <a:avLst/>
          </a:prstGeom>
          <a:solidFill>
            <a:srgbClr val="E8EE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454298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52929" y="1463040"/>
            <a:ext cx="411480" cy="4114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8853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E3A5F"/>
                </a:solidFill>
                <a:latin typeface="Arial"/>
              </a:defRPr>
            </a:pPr>
            <a:r>
              <a:rPr>
                <a:ea typeface="KaiTi"/>
              </a:rPr>
              <a:t>算力底座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468880"/>
            <a:ext cx="272277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3088538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建设全国一体化算力网</a:t>
            </a:r>
            <a:br/>
            <a:r>
              <a:rPr>
                <a:ea typeface="KaiTi"/>
              </a:rPr>
              <a:t>• 论证超大规模智算集群</a:t>
            </a:r>
            <a:br/>
            <a:r>
              <a:rPr>
                <a:ea typeface="KaiTi"/>
              </a:rPr>
              <a:t>• 推进云边端协同发展</a:t>
            </a:r>
            <a:br/>
            <a:r>
              <a:rPr>
                <a:ea typeface="KaiTi"/>
              </a:rPr>
              <a:t>• 降低中小企业用算成本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698" y="1280160"/>
            <a:ext cx="3454298" cy="438912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8698" y="1280160"/>
            <a:ext cx="3454298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890107" y="1463040"/>
            <a:ext cx="411480" cy="411480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1578" y="2011680"/>
            <a:ext cx="308853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A7C59"/>
                </a:solidFill>
                <a:latin typeface="Arial"/>
              </a:defRPr>
            </a:pPr>
            <a:r>
              <a:rPr>
                <a:ea typeface="KaiTi"/>
              </a:rPr>
              <a:t>算法底座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34458" y="2468880"/>
            <a:ext cx="272277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1578" y="2651760"/>
            <a:ext cx="3088538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突破AI基础理论和核心技术</a:t>
            </a:r>
            <a:br/>
            <a:r>
              <a:rPr>
                <a:ea typeface="KaiTi"/>
              </a:rPr>
              <a:t>• 鼓励多模态/智能体/具身智能</a:t>
            </a:r>
            <a:br/>
            <a:r>
              <a:rPr>
                <a:ea typeface="KaiTi"/>
              </a:rPr>
              <a:t>• 推动通用+行业专用大模型</a:t>
            </a:r>
            <a:br/>
            <a:r>
              <a:rPr>
                <a:ea typeface="KaiTi"/>
              </a:rPr>
              <a:t>• 强化"模芯云用"协同创新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05876" y="1280160"/>
            <a:ext cx="3454298" cy="4389120"/>
          </a:xfrm>
          <a:prstGeom prst="rect">
            <a:avLst/>
          </a:prstGeom>
          <a:solidFill>
            <a:srgbClr val="FFF8E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5876" y="1280160"/>
            <a:ext cx="3454298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527285" y="1463040"/>
            <a:ext cx="411480" cy="41148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8756" y="2011680"/>
            <a:ext cx="308853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B8860B"/>
                </a:solidFill>
                <a:latin typeface="Arial"/>
              </a:defRPr>
            </a:pPr>
            <a:r>
              <a:rPr>
                <a:ea typeface="KaiTi"/>
              </a:rPr>
              <a:t>数据底座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71636" y="2468880"/>
            <a:ext cx="2722778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8756" y="2651760"/>
            <a:ext cx="3088538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构建国家数据资源"一本账"</a:t>
            </a:r>
            <a:br/>
            <a:r>
              <a:rPr>
                <a:ea typeface="KaiTi"/>
              </a:rPr>
              <a:t>• 加快建设AI语料库</a:t>
            </a:r>
            <a:br/>
            <a:r>
              <a:rPr>
                <a:ea typeface="KaiTi"/>
              </a:rPr>
              <a:t>• 建立训练数据合理使用制度</a:t>
            </a:r>
            <a:br/>
            <a:r>
              <a:rPr>
                <a:ea typeface="KaiTi"/>
              </a:rPr>
              <a:t>• 建设国家数据基础设施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中央网信办《十五五有"数"》, 2026年3月17日</a:t>
            </a:r>
          </a:p>
        </p:txBody>
      </p:sp>
      <p:pic>
        <p:nvPicPr>
          <p:cNvPr id="23" name="Picture 22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算法技术正从"预测下一个词"向"预测世界下一状态"跃迁，开启AGI新纪元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89497" y="1325880"/>
            <a:ext cx="12700" cy="4251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867247" y="3223260"/>
            <a:ext cx="457200" cy="4572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22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&gt;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0292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十四五：技术奠基期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5029200" cy="4114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大语言模型（LLM）快速迭代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文本/代码生成能力突破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推理成本持续下降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AI4S（科学智能）初步探索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30975" y="1325880"/>
            <a:ext cx="50292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0000"/>
                </a:solidFill>
                <a:latin typeface="Arial"/>
              </a:defRPr>
            </a:pPr>
            <a:r>
              <a:rPr>
                <a:ea typeface="KaiTi"/>
              </a:rPr>
              <a:t>十五五：应用爆发期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0975" y="1920240"/>
            <a:ext cx="5029200" cy="4114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世界模型成为AGI核心突破口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具身智能从实验室走向产业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多智能体系统协同标准化</a:t>
            </a:r>
          </a:p>
          <a:p>
            <a:pPr algn="l">
              <a:lnSpc>
                <a:spcPts val="1620"/>
              </a:lnSpc>
              <a:spcBef>
                <a:spcPts val="8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科学智能缩短研发周期50%+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清华大学《2026年中国AI发展趋势前瞻》; CISTE深度解析</a:t>
            </a:r>
          </a:p>
        </p:txBody>
      </p:sp>
      <p:pic>
        <p:nvPicPr>
          <p:cNvPr id="11" name="Picture 10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第三部分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0000"/>
                </a:solidFill>
                <a:latin typeface="Georgia"/>
              </a:defRPr>
            </a:pPr>
            <a:r>
              <a:rPr>
                <a:ea typeface="KaiTi"/>
              </a:rPr>
              <a:t>六大赋能领域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全面实施"人工智能+"行动 — 从局部试点到全域渗透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"人工智能+"国家行动覆盖六大核心领域，全方位赋能千行百业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439058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3439058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1417320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417320"/>
            <a:ext cx="54864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417320"/>
            <a:ext cx="2250338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3A5F"/>
                </a:solidFill>
                <a:latin typeface="Arial"/>
              </a:defRPr>
            </a:pPr>
            <a:r>
              <a:rPr>
                <a:ea typeface="KaiTi"/>
              </a:rPr>
              <a:t>智能制造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03120"/>
            <a:ext cx="2890418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实施智能制造工程和工业互联网创新发展工程</a:t>
            </a:r>
            <a:br/>
            <a:r>
              <a:rPr>
                <a:ea typeface="KaiTi"/>
              </a:rPr>
              <a:t>促进制造业"智改数转网联"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07738" y="1188720"/>
            <a:ext cx="3439058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07738" y="1188720"/>
            <a:ext cx="3439058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82058" y="1417320"/>
            <a:ext cx="548640" cy="548640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2058" y="1417320"/>
            <a:ext cx="54864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1417320"/>
            <a:ext cx="2250338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7C59"/>
                </a:solidFill>
                <a:latin typeface="Arial"/>
              </a:defRPr>
            </a:pPr>
            <a:r>
              <a:rPr>
                <a:ea typeface="KaiTi"/>
              </a:rPr>
              <a:t>智慧民生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2058" y="2103120"/>
            <a:ext cx="2890418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拓展教育/医疗/养老/文旅融合应用</a:t>
            </a:r>
            <a:br/>
            <a:r>
              <a:rPr>
                <a:ea typeface="KaiTi"/>
              </a:rPr>
              <a:t>构建数智便民服务圈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83956" y="1188720"/>
            <a:ext cx="3439058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83956" y="1188720"/>
            <a:ext cx="3439058" cy="54864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158276" y="1417320"/>
            <a:ext cx="548640" cy="548640"/>
          </a:xfrm>
          <a:prstGeom prst="ellipse">
            <a:avLst/>
          </a:prstGeom>
          <a:solidFill>
            <a:srgbClr val="B886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8276" y="1417320"/>
            <a:ext cx="54864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9796" y="1417320"/>
            <a:ext cx="2250338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B8860B"/>
                </a:solidFill>
                <a:latin typeface="Arial"/>
              </a:defRPr>
            </a:pPr>
            <a:r>
              <a:rPr>
                <a:ea typeface="KaiTi"/>
              </a:rPr>
              <a:t>数智政务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8276" y="2103120"/>
            <a:ext cx="2890418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推进政务领域大模型部署应用</a:t>
            </a:r>
            <a:br/>
            <a:r>
              <a:rPr>
                <a:ea typeface="KaiTi"/>
              </a:rPr>
              <a:t>探索全程智能办理的服务新模式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291840"/>
            <a:ext cx="3439058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291840"/>
            <a:ext cx="3439058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" y="3520440"/>
            <a:ext cx="548640" cy="54864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3520440"/>
            <a:ext cx="54864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520440"/>
            <a:ext cx="2250338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科技创新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06240"/>
            <a:ext cx="2890418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以人工智能引领科研范式变革</a:t>
            </a:r>
            <a:br/>
            <a:r>
              <a:rPr>
                <a:ea typeface="KaiTi"/>
              </a:rPr>
              <a:t>加速药物研发和材料创新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07738" y="3291840"/>
            <a:ext cx="3439058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07738" y="3291840"/>
            <a:ext cx="3439058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582058" y="3520440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82058" y="3520440"/>
            <a:ext cx="54864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13578" y="3520440"/>
            <a:ext cx="2250338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E3A5F"/>
                </a:solidFill>
                <a:latin typeface="Arial"/>
              </a:defRPr>
            </a:pPr>
            <a:r>
              <a:rPr>
                <a:ea typeface="KaiTi"/>
              </a:rPr>
              <a:t>安全治理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2058" y="4206240"/>
            <a:ext cx="2890418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提升感知预警和精准管理能力</a:t>
            </a:r>
            <a:br/>
            <a:r>
              <a:rPr>
                <a:ea typeface="KaiTi"/>
              </a:rPr>
              <a:t>深化AI赋能安全治理体系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83956" y="3291840"/>
            <a:ext cx="3439058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83956" y="3291840"/>
            <a:ext cx="3439058" cy="54864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58276" y="3520440"/>
            <a:ext cx="548640" cy="548640"/>
          </a:xfrm>
          <a:prstGeom prst="ellipse">
            <a:avLst/>
          </a:prstGeom>
          <a:solidFill>
            <a:srgbClr val="4A7C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58276" y="3520440"/>
            <a:ext cx="54864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89796" y="3520440"/>
            <a:ext cx="2250338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A7C59"/>
                </a:solidFill>
                <a:latin typeface="Arial"/>
              </a:defRPr>
            </a:pPr>
            <a:r>
              <a:rPr>
                <a:ea typeface="KaiTi"/>
              </a:rPr>
              <a:t>国际合作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58276" y="4206240"/>
            <a:ext cx="2890418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构建全球数字合作伙伴关系网</a:t>
            </a:r>
            <a:br/>
            <a:r>
              <a:rPr>
                <a:ea typeface="KaiTi"/>
              </a:rPr>
              <a:t>支持全球南方国家AI能力建设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十五五规划纲要全文; 国务院"人工智能+"行动意见, 2025年8月</a:t>
            </a:r>
          </a:p>
        </p:txBody>
      </p:sp>
      <p:pic>
        <p:nvPicPr>
          <p:cNvPr id="41" name="Picture 40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智能制造引领AI融合深度，六大重点领域率先实现广泛深度融合（2027年目标）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8288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智能制造（工业互联网）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572768"/>
            <a:ext cx="685800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1572768"/>
            <a:ext cx="6309360" cy="36576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0" y="1463040"/>
            <a:ext cx="9144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92%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9144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18288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智慧金融（风控/信贷）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167128"/>
            <a:ext cx="685800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2167128"/>
            <a:ext cx="582930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0" y="2057400"/>
            <a:ext cx="9144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9144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18288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智慧医疗（辅助诊疗）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761488"/>
            <a:ext cx="685800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0" y="2761488"/>
            <a:ext cx="5349240" cy="36576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2651760"/>
            <a:ext cx="9144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78%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246120"/>
            <a:ext cx="9144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246120"/>
            <a:ext cx="18288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智慧教育（个性化学习）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355848"/>
            <a:ext cx="685800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355848"/>
            <a:ext cx="4937760" cy="36576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3246120"/>
            <a:ext cx="9144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72%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840480"/>
            <a:ext cx="9144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3840480"/>
            <a:ext cx="18288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智慧交通（自动驾驶）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950208"/>
            <a:ext cx="685800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0" y="3950208"/>
            <a:ext cx="4663440" cy="3657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0" y="3840480"/>
            <a:ext cx="9144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68%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434840"/>
            <a:ext cx="9144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434840"/>
            <a:ext cx="18288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智慧农业（精准种植）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4544568"/>
            <a:ext cx="6858000" cy="3657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0" y="4544568"/>
            <a:ext cx="3771900" cy="36576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4434840"/>
            <a:ext cx="91440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55%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303520"/>
            <a:ext cx="10728655" cy="82296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303520"/>
            <a:ext cx="137160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政策目标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5303520"/>
            <a:ext cx="8625535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到2027年率先实现AI与6大重点领域广泛深度融合，新一代智能终端/智能体应用普及率超70%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国务院"人工智能+"行动意见, 2025年8月; 行业渗透率为示意值</a:t>
            </a:r>
          </a:p>
        </p:txBody>
      </p:sp>
      <p:pic>
        <p:nvPicPr>
          <p:cNvPr id="37" name="Picture 36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828800"/>
            <a:ext cx="91440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66666"/>
                </a:solidFill>
                <a:latin typeface="Georgia"/>
              </a:defRPr>
            </a:pPr>
            <a:r>
              <a:rPr>
                <a:ea typeface="KaiTi"/>
              </a:rPr>
              <a:t>第四部分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560320"/>
            <a:ext cx="914400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B0000"/>
                </a:solidFill>
                <a:latin typeface="Georgia"/>
              </a:defRPr>
            </a:pPr>
            <a:r>
              <a:rPr>
                <a:ea typeface="KaiTi"/>
              </a:rPr>
              <a:t>产业规模与趋势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14400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全球AI市场突破9,000亿美元 — 中国贡献亚太市场40%+增量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中国AI产业结构从"基础层主导"向"应用层爆发"加速转型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17920" y="1399032"/>
            <a:ext cx="164592" cy="16459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46520" y="1325880"/>
            <a:ext cx="146304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应用层（行业解决方</a:t>
            </a:r>
            <a:br/>
            <a:r>
              <a:rPr>
                <a:ea typeface="KaiTi"/>
              </a:rPr>
              <a:t>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0" y="1399032"/>
            <a:ext cx="164592" cy="16459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83880" y="1325880"/>
            <a:ext cx="146304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技术层（算法/模型/</a:t>
            </a:r>
            <a:br/>
            <a:r>
              <a:rPr>
                <a:ea typeface="KaiTi"/>
              </a:rPr>
              <a:t>平台）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9692640" y="1399032"/>
            <a:ext cx="164592" cy="164592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21240" y="1325880"/>
            <a:ext cx="1463040" cy="5029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基础层（算力/芯片/</a:t>
            </a:r>
            <a:br/>
            <a:r>
              <a:rPr>
                <a:ea typeface="KaiTi"/>
              </a:rPr>
              <a:t>数据）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57800"/>
            <a:ext cx="594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594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0160" y="4526280"/>
            <a:ext cx="87782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594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3657600"/>
            <a:ext cx="87782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651760"/>
            <a:ext cx="594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80160" y="2788920"/>
            <a:ext cx="87782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1783080"/>
            <a:ext cx="594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100%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1920240"/>
            <a:ext cx="87782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80160" y="5394960"/>
            <a:ext cx="877824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73810" y="1920240"/>
            <a:ext cx="12700" cy="34747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563624" y="3831336"/>
            <a:ext cx="1188720" cy="156362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63624" y="3831336"/>
            <a:ext cx="1188720" cy="1563624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45%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63624" y="2788920"/>
            <a:ext cx="1188720" cy="104241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63624" y="2788920"/>
            <a:ext cx="1188720" cy="1042416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63624" y="1920240"/>
            <a:ext cx="1188720" cy="86868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63624" y="1920240"/>
            <a:ext cx="1188720" cy="8686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5440680"/>
            <a:ext cx="1755648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19272" y="3935578"/>
            <a:ext cx="1188720" cy="1459382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19272" y="3935578"/>
            <a:ext cx="1188720" cy="145938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42%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19272" y="2893162"/>
            <a:ext cx="1188720" cy="104241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19272" y="2893162"/>
            <a:ext cx="1188720" cy="1042416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9272" y="1920240"/>
            <a:ext cx="1188720" cy="972921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19272" y="1920240"/>
            <a:ext cx="1188720" cy="972921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35808" y="5440680"/>
            <a:ext cx="1755648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74920" y="4074567"/>
            <a:ext cx="1188720" cy="1320393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74920" y="4074567"/>
            <a:ext cx="1188720" cy="1320393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38%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74920" y="3032151"/>
            <a:ext cx="1188720" cy="104241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74920" y="3032151"/>
            <a:ext cx="1188720" cy="1042416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74920" y="1920240"/>
            <a:ext cx="1188720" cy="111191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1920240"/>
            <a:ext cx="1188720" cy="111191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91456" y="5440680"/>
            <a:ext cx="1755648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30568" y="4178808"/>
            <a:ext cx="1188720" cy="1216152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0568" y="4178808"/>
            <a:ext cx="1188720" cy="121615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35%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30568" y="3136392"/>
            <a:ext cx="1188720" cy="1042416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30568" y="3136392"/>
            <a:ext cx="1188720" cy="1042416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830568" y="1920240"/>
            <a:ext cx="1188720" cy="121615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30568" y="1920240"/>
            <a:ext cx="1188720" cy="121615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47104" y="5440680"/>
            <a:ext cx="1755648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586216" y="4352544"/>
            <a:ext cx="1188720" cy="1042416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86216" y="4352544"/>
            <a:ext cx="1188720" cy="1042416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86216" y="3379623"/>
            <a:ext cx="1188720" cy="972921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86216" y="3379623"/>
            <a:ext cx="1188720" cy="972921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28%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86216" y="1920240"/>
            <a:ext cx="1188720" cy="1459382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86216" y="1920240"/>
            <a:ext cx="1188720" cy="1459382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2752" y="5440680"/>
            <a:ext cx="1755648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2026E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31520" y="5806440"/>
            <a:ext cx="10728655" cy="54864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5840" y="5806440"/>
            <a:ext cx="1371600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趋势洞见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60320" y="5806440"/>
            <a:ext cx="8625535" cy="54864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应用层占比从2022年的25%提升至2026年预估42%，企业级应用预计在2026年下半年迎来"V型"反转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中商产业研究院; CISTE; 前瞻产业研究院, 2026</a:t>
            </a:r>
          </a:p>
        </p:txBody>
      </p:sp>
      <p:pic>
        <p:nvPicPr>
          <p:cNvPr id="60" name="Picture 59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十五五AI发展路线图：三阶段递进，从筑基到全面赋能再到全球引领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88720" y="2743200"/>
            <a:ext cx="9784080" cy="254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82980" y="2537460"/>
            <a:ext cx="411480" cy="4114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2026-2027</a:t>
            </a:r>
            <a:br/>
            <a:r>
              <a:rPr>
                <a:ea typeface="KaiTi"/>
              </a:rPr>
              <a:t>筑基阶段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算力网骨干建成</a:t>
            </a:r>
            <a:br/>
            <a:r>
              <a:rPr>
                <a:ea typeface="KaiTi"/>
              </a:rPr>
              <a:t>• AI语料库初步运营</a:t>
            </a:r>
            <a:br/>
            <a:r>
              <a:rPr>
                <a:ea typeface="KaiTi"/>
              </a:rPr>
              <a:t>• 6大领域试点融合</a:t>
            </a:r>
            <a:br/>
            <a:r>
              <a:rPr>
                <a:ea typeface="KaiTi"/>
              </a:rPr>
              <a:t>• AI立法框架确立</a:t>
            </a:r>
          </a:p>
        </p:txBody>
      </p:sp>
      <p:sp>
        <p:nvSpPr>
          <p:cNvPr id="8" name="Oval 7"/>
          <p:cNvSpPr/>
          <p:nvPr/>
        </p:nvSpPr>
        <p:spPr>
          <a:xfrm>
            <a:off x="5875020" y="2537460"/>
            <a:ext cx="411480" cy="41148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636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2028-2029</a:t>
            </a:r>
            <a:br/>
            <a:r>
              <a:rPr>
                <a:ea typeface="KaiTi"/>
              </a:rPr>
              <a:t>加速阶段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智能终端普及率&gt;70%</a:t>
            </a:r>
            <a:br/>
            <a:r>
              <a:rPr>
                <a:ea typeface="KaiTi"/>
              </a:rPr>
              <a:t>• 行业大模型规模化</a:t>
            </a:r>
            <a:br/>
            <a:r>
              <a:rPr>
                <a:ea typeface="KaiTi"/>
              </a:rPr>
              <a:t>• 数据要素市场成熟</a:t>
            </a:r>
            <a:br/>
            <a:r>
              <a:rPr>
                <a:ea typeface="KaiTi"/>
              </a:rPr>
              <a:t>• 国际治理话语权提升</a:t>
            </a:r>
          </a:p>
        </p:txBody>
      </p:sp>
      <p:sp>
        <p:nvSpPr>
          <p:cNvPr id="11" name="Oval 10"/>
          <p:cNvSpPr/>
          <p:nvPr/>
        </p:nvSpPr>
        <p:spPr>
          <a:xfrm>
            <a:off x="10767060" y="2537460"/>
            <a:ext cx="411480" cy="411480"/>
          </a:xfrm>
          <a:prstGeom prst="ellipse">
            <a:avLst/>
          </a:prstGeom>
          <a:solidFill>
            <a:srgbClr val="8B0000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1828800"/>
            <a:ext cx="182880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2030</a:t>
            </a:r>
            <a:br/>
            <a:r>
              <a:rPr>
                <a:ea typeface="KaiTi"/>
              </a:rPr>
              <a:t>引领阶段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3200400"/>
            <a:ext cx="1828800" cy="1371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AI核心产业成国民经济支柱</a:t>
            </a:r>
            <a:br/>
            <a:r>
              <a:rPr>
                <a:ea typeface="KaiTi"/>
              </a:rPr>
              <a:t>• 具身智能规模化应用</a:t>
            </a:r>
            <a:br/>
            <a:r>
              <a:rPr>
                <a:ea typeface="KaiTi"/>
              </a:rPr>
              <a:t>• 全球AI开放生态领导者</a:t>
            </a:r>
            <a:br/>
            <a:r>
              <a:rPr>
                <a:ea typeface="KaiTi"/>
              </a:rPr>
              <a:t>• 通用人工智能探索突破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十五五规划纲要; 国务院"人工智能+"行动意见; 李迅雷解读, 2026年3月</a:t>
            </a:r>
          </a:p>
        </p:txBody>
      </p:sp>
      <p:pic>
        <p:nvPicPr>
          <p:cNvPr id="15" name="Picture 14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核心要点总结：十五五开启中国AI发展新纪元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协同机制分析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6858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68580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**战略升维**：AI从科技前沿专项上升为国家发展核心能力，纲要将"数智化"单独成篇，史上首次。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**三位一体底座**：算力（全国一体化算力网）+ 算法（多模态/具身/群体智能）+ 数据（国家数据资源"一本账"），构建全球竞争力。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**六大领域全面赋能**：制造/民生/政务/科研/安全/国际合作，"人工智能+"从口号变为可执行的国家行动。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**发展治理并重**：完善AI法律法规、伦理准则，建立全生命周期风险管理制度，探索AI生成物权利归属规则。</a:t>
            </a: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890"/>
              </a:lnSpc>
              <a:spcBef>
                <a:spcPts val="4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**万亿市场启动**：2026年核心产业规模预计达1.2万亿元，应用层占比从25%跃升至42%，企业级应用迎来拐点。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280160"/>
            <a:ext cx="3200400" cy="475488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463040"/>
            <a:ext cx="28346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8B0000"/>
                </a:solidFill>
                <a:latin typeface="Arial"/>
              </a:defRPr>
            </a:pPr>
            <a:r>
              <a:rPr>
                <a:ea typeface="KaiTi"/>
              </a:rPr>
              <a:t>Key Takeaways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920240"/>
            <a:ext cx="28346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103120"/>
            <a:ext cx="283464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把握十五五开局窗口期，提前布局AI能力建设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优先投资"算力+数据"基础设施，构建长期竞争壁垒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聚焦六大重点领域，找到行业切入点与差异化机会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关注治理合规趋势，建立AI伦理与安全管理体系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积极参与国际标准制定，争取全球话语权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十五五规划纲要; 国务院"人工智能+"行动; 两会AI新政解读, 2026</a:t>
            </a:r>
          </a:p>
        </p:txBody>
      </p:sp>
      <p:pic>
        <p:nvPicPr>
          <p:cNvPr id="12" name="Picture 11" descr="Lululemon-Logo-PNG-HD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7675" y="6153150"/>
            <a:ext cx="952500" cy="952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