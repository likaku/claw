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155680" cy="502920"/>
          </a:xfrm>
          <a:prstGeom prst="rect">
            <a:avLst/>
          </a:prstGeom>
          <a:noFill/>
        </p:spPr>
        <p:txBody>
          <a:bodyPr wrap="square" anchor="ctr" lIns="36000" tIns="36000" rIns="36000" bIns="36000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OpenClaw 创始过程｜Peter Steinberger 如何把个人 AI 助手做成现象级项目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66928"/>
            <a:ext cx="11155680" cy="127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3657600" cy="2606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21792" y="914400"/>
            <a:ext cx="384048" cy="38404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932688"/>
            <a:ext cx="2560320" cy="256032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Peter Steinberger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07008"/>
            <a:ext cx="256032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奥地利开发者 / 开源作者 / OpenClaw 发起人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1508760"/>
            <a:ext cx="32918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27632"/>
            <a:ext cx="3291840" cy="329184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627632"/>
            <a:ext cx="54864" cy="32918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682496"/>
            <a:ext cx="548640" cy="219456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82496"/>
            <a:ext cx="2377440" cy="219456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iOS/Swift 生态资深开发者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011680"/>
            <a:ext cx="3291840" cy="32918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2011680"/>
            <a:ext cx="54864" cy="329184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066544"/>
            <a:ext cx="548640" cy="219456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经历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066544"/>
            <a:ext cx="2377440" cy="219456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PSPDFKit 创业 → AI 工具实验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2395728"/>
            <a:ext cx="3291840" cy="329184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2395728"/>
            <a:ext cx="54864" cy="32918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450592"/>
            <a:ext cx="548640" cy="219456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转向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450592"/>
            <a:ext cx="2377440" cy="219456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2026.02 加入 OpenAI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2779776"/>
            <a:ext cx="3291840" cy="329184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" y="2779776"/>
            <a:ext cx="54864" cy="32918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2834640"/>
            <a:ext cx="548640" cy="219456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理念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834640"/>
            <a:ext cx="2377440" cy="219456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改变世界 &gt; 做大公司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713232"/>
            <a:ext cx="3611880" cy="26060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713232"/>
            <a:ext cx="91440" cy="260604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868680"/>
            <a:ext cx="3200400" cy="237744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创始洞察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1234440"/>
            <a:ext cx="3200400" cy="100584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"不是再做会聊天的AI，</a:t>
            </a:r>
            <a:br/>
            <a:r>
              <a:rPr>
                <a:ea typeface="KaiTi"/>
              </a:rPr>
              <a:t>而是能真正干活的个人助手"</a:t>
            </a:r>
          </a:p>
        </p:txBody>
      </p:sp>
      <p:sp>
        <p:nvSpPr>
          <p:cNvPr id="29" name="Oval 28"/>
          <p:cNvSpPr/>
          <p:nvPr/>
        </p:nvSpPr>
        <p:spPr>
          <a:xfrm>
            <a:off x="4480560" y="2331720"/>
            <a:ext cx="256032" cy="256032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331720"/>
            <a:ext cx="68580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本地优先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2606040"/>
            <a:ext cx="914400" cy="36576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数据隐私 + 离线可用</a:t>
            </a:r>
          </a:p>
        </p:txBody>
      </p:sp>
      <p:sp>
        <p:nvSpPr>
          <p:cNvPr id="32" name="Oval 31"/>
          <p:cNvSpPr/>
          <p:nvPr/>
        </p:nvSpPr>
        <p:spPr>
          <a:xfrm>
            <a:off x="5532120" y="2331720"/>
            <a:ext cx="256032" cy="256032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2331720"/>
            <a:ext cx="68580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跨平台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2606040"/>
            <a:ext cx="914400" cy="36576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多端统一体验</a:t>
            </a:r>
          </a:p>
        </p:txBody>
      </p:sp>
      <p:sp>
        <p:nvSpPr>
          <p:cNvPr id="35" name="Oval 34"/>
          <p:cNvSpPr/>
          <p:nvPr/>
        </p:nvSpPr>
        <p:spPr>
          <a:xfrm>
            <a:off x="6583680" y="2331720"/>
            <a:ext cx="256032" cy="256032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331720"/>
            <a:ext cx="68580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工具调用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606040"/>
            <a:ext cx="914400" cy="36576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连接真实系统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401568"/>
            <a:ext cx="3657600" cy="237744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项目演进路径</a:t>
            </a:r>
          </a:p>
        </p:txBody>
      </p:sp>
      <p:sp>
        <p:nvSpPr>
          <p:cNvPr id="39" name="Oval 38"/>
          <p:cNvSpPr/>
          <p:nvPr/>
        </p:nvSpPr>
        <p:spPr>
          <a:xfrm>
            <a:off x="749808" y="3703320"/>
            <a:ext cx="256032" cy="256032"/>
          </a:xfrm>
          <a:prstGeom prst="ellipse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" y="3813048"/>
            <a:ext cx="59436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041648"/>
            <a:ext cx="86868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前史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279392"/>
            <a:ext cx="868680" cy="4114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919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移动开发→AI工具</a:t>
            </a:r>
          </a:p>
        </p:txBody>
      </p:sp>
      <p:sp>
        <p:nvSpPr>
          <p:cNvPr id="43" name="Oval 42"/>
          <p:cNvSpPr/>
          <p:nvPr/>
        </p:nvSpPr>
        <p:spPr>
          <a:xfrm>
            <a:off x="1645920" y="3703320"/>
            <a:ext cx="256032" cy="256032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47672" y="3813048"/>
            <a:ext cx="59436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53312" y="4041648"/>
            <a:ext cx="86868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Clawdbot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53312" y="4279392"/>
            <a:ext cx="868680" cy="4114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919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"能干活的助手"原型</a:t>
            </a:r>
          </a:p>
        </p:txBody>
      </p:sp>
      <p:sp>
        <p:nvSpPr>
          <p:cNvPr id="47" name="Oval 46"/>
          <p:cNvSpPr/>
          <p:nvPr/>
        </p:nvSpPr>
        <p:spPr>
          <a:xfrm>
            <a:off x="2542032" y="3703320"/>
            <a:ext cx="256032" cy="256032"/>
          </a:xfrm>
          <a:prstGeom prst="ellipse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43784" y="3813048"/>
            <a:ext cx="59436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49424" y="4041648"/>
            <a:ext cx="86868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Moltbot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49424" y="4279392"/>
            <a:ext cx="868680" cy="4114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919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品牌探索期</a:t>
            </a:r>
          </a:p>
        </p:txBody>
      </p:sp>
      <p:sp>
        <p:nvSpPr>
          <p:cNvPr id="51" name="Oval 50"/>
          <p:cNvSpPr/>
          <p:nvPr/>
        </p:nvSpPr>
        <p:spPr>
          <a:xfrm>
            <a:off x="3438144" y="3703320"/>
            <a:ext cx="256032" cy="256032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45536" y="4041648"/>
            <a:ext cx="86868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OpenClaw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45536" y="4279392"/>
            <a:ext cx="868680" cy="4114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919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定位稳定+开源独立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51960" y="3401568"/>
            <a:ext cx="361188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34840" y="3547872"/>
            <a:ext cx="320040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技术架构特征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34840" y="3822191"/>
            <a:ext cx="91440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• 本地优先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60" y="3822191"/>
            <a:ext cx="228600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数据不出设备，隐私可控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34840" y="4059935"/>
            <a:ext cx="91440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• 消息渠道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4960" y="4059935"/>
            <a:ext cx="228600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接入 Telegram/微信等主流平台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4840" y="4297679"/>
            <a:ext cx="91440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• 工具生态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4297679"/>
            <a:ext cx="228600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调用 API、文件系统、自动化脚本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34840" y="4535423"/>
            <a:ext cx="91440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• 开源独立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4535423"/>
            <a:ext cx="228600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基金会治理，社区驱动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4892040"/>
            <a:ext cx="3657600" cy="14630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7200" y="4892040"/>
            <a:ext cx="91440" cy="146304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047488"/>
            <a:ext cx="3291840" cy="219456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46A00"/>
                </a:solidFill>
                <a:latin typeface="Arial"/>
              </a:defRPr>
            </a:pPr>
            <a:r>
              <a:rPr>
                <a:ea typeface="KaiTi"/>
              </a:rPr>
              <a:t>2026年战略转向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" y="5349240"/>
            <a:ext cx="16002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4672" y="5440680"/>
            <a:ext cx="137160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创始人去向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672" y="5650992"/>
            <a:ext cx="1371600" cy="50292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加入 OpenAI</a:t>
            </a:r>
            <a:br/>
            <a:r>
              <a:rPr>
                <a:ea typeface="KaiTi"/>
              </a:rPr>
              <a:t>投入"下一代个人agent"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377440" y="5349240"/>
            <a:ext cx="16002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96312" y="5440680"/>
            <a:ext cx="137160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OpenClaw去向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96312" y="5650992"/>
            <a:ext cx="1371600" cy="50292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进入基金会</a:t>
            </a:r>
            <a:br/>
            <a:r>
              <a:rPr>
                <a:ea typeface="KaiTi"/>
              </a:rPr>
              <a:t>保持开源独立运营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51960" y="4892040"/>
            <a:ext cx="3611880" cy="219456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市场定位对比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51960" y="5166360"/>
            <a:ext cx="3611880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43400" y="5193792"/>
            <a:ext cx="109728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维度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0" y="5193792"/>
            <a:ext cx="114300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OpenClaw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75120" y="5193792"/>
            <a:ext cx="109728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传统AI助手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1960" y="5468112"/>
            <a:ext cx="3611880" cy="21945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43400" y="5486400"/>
            <a:ext cx="109728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数据隐私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0" y="5486400"/>
            <a:ext cx="114300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本地优先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75120" y="5486400"/>
            <a:ext cx="109728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云端处理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51960" y="5687568"/>
            <a:ext cx="36118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43400" y="5705856"/>
            <a:ext cx="109728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执行能力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0" y="5705856"/>
            <a:ext cx="114300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真实工具调用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75120" y="5705856"/>
            <a:ext cx="109728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对话为主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51960" y="5907024"/>
            <a:ext cx="3611880" cy="21945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43400" y="5925312"/>
            <a:ext cx="109728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商业模式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925312"/>
            <a:ext cx="114300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开源+基金会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75120" y="5925312"/>
            <a:ext cx="109728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SaaS订阅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251960" y="6126480"/>
            <a:ext cx="36118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343400" y="6144768"/>
            <a:ext cx="109728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生态开放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0" y="6144768"/>
            <a:ext cx="114300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社区驱动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75120" y="6144768"/>
            <a:ext cx="109728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平台封闭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55279" y="713232"/>
            <a:ext cx="3703320" cy="26060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138160" y="868680"/>
            <a:ext cx="3291840" cy="219456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关键里程碑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138160" y="1234440"/>
            <a:ext cx="128016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GitHub Stars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509760" y="1234440"/>
            <a:ext cx="914400" cy="237744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r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50K+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38160" y="1435608"/>
            <a:ext cx="2286000" cy="164592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AACC"/>
                </a:solidFill>
                <a:latin typeface="Arial"/>
              </a:defRPr>
            </a:pPr>
            <a:r>
              <a:rPr>
                <a:ea typeface="KaiTi"/>
              </a:rPr>
              <a:t>开源社区关注度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138160" y="1737360"/>
            <a:ext cx="128016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用户覆盖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09760" y="1737360"/>
            <a:ext cx="914400" cy="237744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r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100+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138160" y="1938528"/>
            <a:ext cx="2286000" cy="164592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AACC"/>
                </a:solidFill>
                <a:latin typeface="Arial"/>
              </a:defRPr>
            </a:pPr>
            <a:r>
              <a:rPr>
                <a:ea typeface="KaiTi"/>
              </a:rPr>
              <a:t>国家和地区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138160" y="2240280"/>
            <a:ext cx="128016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集成渠道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09760" y="2240280"/>
            <a:ext cx="914400" cy="237744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r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15+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138160" y="2441448"/>
            <a:ext cx="2286000" cy="164592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AACC"/>
                </a:solidFill>
                <a:latin typeface="Arial"/>
              </a:defRPr>
            </a:pPr>
            <a:r>
              <a:rPr>
                <a:ea typeface="KaiTi"/>
              </a:rPr>
              <a:t>消息平台/工具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38160" y="2743200"/>
            <a:ext cx="1280160" cy="182880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贡献者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509760" y="2743200"/>
            <a:ext cx="914400" cy="237744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r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200+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38160" y="2944368"/>
            <a:ext cx="2286000" cy="164592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AACC"/>
                </a:solidFill>
                <a:latin typeface="Arial"/>
              </a:defRPr>
            </a:pPr>
            <a:r>
              <a:rPr>
                <a:ea typeface="KaiTi"/>
              </a:rPr>
              <a:t>全球开发者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955279" y="3401568"/>
            <a:ext cx="370332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138160" y="3547872"/>
            <a:ext cx="329184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行业影响力</a:t>
            </a:r>
          </a:p>
        </p:txBody>
      </p:sp>
      <p:sp>
        <p:nvSpPr>
          <p:cNvPr id="110" name="Oval 109"/>
          <p:cNvSpPr/>
          <p:nvPr/>
        </p:nvSpPr>
        <p:spPr>
          <a:xfrm>
            <a:off x="8138160" y="3822191"/>
            <a:ext cx="201168" cy="201168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12480" y="3822191"/>
            <a:ext cx="301752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推动"本地优先AI"成为行业共识</a:t>
            </a:r>
          </a:p>
        </p:txBody>
      </p:sp>
      <p:sp>
        <p:nvSpPr>
          <p:cNvPr id="112" name="Oval 111"/>
          <p:cNvSpPr/>
          <p:nvPr/>
        </p:nvSpPr>
        <p:spPr>
          <a:xfrm>
            <a:off x="8138160" y="4059935"/>
            <a:ext cx="201168" cy="201168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80" y="4059935"/>
            <a:ext cx="301752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验证个人AI助手的产品形态</a:t>
            </a:r>
          </a:p>
        </p:txBody>
      </p:sp>
      <p:sp>
        <p:nvSpPr>
          <p:cNvPr id="114" name="Oval 113"/>
          <p:cNvSpPr/>
          <p:nvPr/>
        </p:nvSpPr>
        <p:spPr>
          <a:xfrm>
            <a:off x="8138160" y="4297679"/>
            <a:ext cx="201168" cy="201168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412480" y="4297679"/>
            <a:ext cx="301752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为开源AI项目提供治理范式</a:t>
            </a:r>
          </a:p>
        </p:txBody>
      </p:sp>
      <p:sp>
        <p:nvSpPr>
          <p:cNvPr id="116" name="Oval 115"/>
          <p:cNvSpPr/>
          <p:nvPr/>
        </p:nvSpPr>
        <p:spPr>
          <a:xfrm>
            <a:off x="8138160" y="4535423"/>
            <a:ext cx="201168" cy="201168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412480" y="4535423"/>
            <a:ext cx="3017520" cy="201168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引领"agent工具化"技术路线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57200" y="5989320"/>
            <a:ext cx="112014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40080" y="6016752"/>
            <a:ext cx="10789920" cy="256032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核心结论：OpenClaw 不是从"大公司产品路线"长出来的，而是从创始人对"真正能做事的个人 AI"这一强烈产品判断中长出来的。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200" y="6492240"/>
            <a:ext cx="10424160" cy="164592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OpenClaw GitHub / Peter Steinberger personal site / TechCrunch (2026-02-15) / Lex Fridman episode page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247120" y="6492240"/>
            <a:ext cx="457200" cy="164592"/>
          </a:xfrm>
          <a:prstGeom prst="rect">
            <a:avLst/>
          </a:prstGeom>
          <a:noFill/>
        </p:spPr>
        <p:txBody>
          <a:bodyPr wrap="square" anchor="t" lIns="36000" tIns="36000" rIns="36000" bIns="36000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1/1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