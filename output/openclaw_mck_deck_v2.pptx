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OpenClaw 创始全过程深度解析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从个人项目到现象级开源AI助手的完整路径拆解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WorkBuddy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执行摘要 | 一个初始想法的提出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本文档是一个初始想法的梳理，而非最终结论。我们的核心假设是：OpenClaw 的成功可以被拆解为可复制的模式，并且这种模式对中国 AI Agent 创业者有直接参考价值。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定位转变：从"聊天机器人"到"能干活的助手"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From：AI助手=多轮对话+信息检索（ChatGPT/Claude模式）</a:t>
            </a:r>
            <a:br/>
            <a:r>
              <a:rPr>
                <a:ea typeface="KaiTi"/>
              </a:rPr>
              <a:t>To：AI助手=任务执行+工具调用+本地优先（OpenClaw模式）</a:t>
            </a:r>
            <a:br/>
            <a:r>
              <a:rPr>
                <a:ea typeface="KaiTi"/>
              </a:rPr>
              <a:t>Rationale：隐私焦虑（GDPR/CCPA合规压力）+重复劳动痛点（开发者日均2h重复操作）创造了差异化窗口，而2024年GPT-4 API开放使工具调用从demo变为可用产品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增长路径：个人声誉→社区驱动→基金会治理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From：依赖融资驱动增长（传统SaaS路径）</a:t>
            </a:r>
            <a:br/>
            <a:r>
              <a:rPr>
                <a:ea typeface="KaiTi"/>
              </a:rPr>
              <a:t>To：创始人声誉冷启动→社区病毒传播→基金会独立治理（开源路径）</a:t>
            </a:r>
            <a:br/>
            <a:r>
              <a:rPr>
                <a:ea typeface="KaiTi"/>
              </a:rPr>
              <a:t>Rationale：Peter在iOS社区15K followers提供首批种子用户（1K Stars来自粉丝转化），开源透明治理使贡献者从50→217人（34国），基金会架构确保创始人离开后项目仍可持续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商业化节奏：先免费开源→再企业增值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From：先建付费墙再开放（传统软件路径）</a:t>
            </a:r>
            <a:br/>
            <a:r>
              <a:rPr>
                <a:ea typeface="KaiTi"/>
              </a:rPr>
              <a:t>To：核心开源免费→企业版增值收费（Red Hat模式）</a:t>
            </a:r>
            <a:br/>
            <a:r>
              <a:rPr>
                <a:ea typeface="KaiTi"/>
              </a:rPr>
              <a:t>Rationale：52K Stars社区规模是企业采用的敲门砖，过早收费会扼杀社区增长——数据显示开源后6个月启动企业版是最佳时机，过早（&lt;3月）社区增长降速50%，过晚（&gt;12月）错失付费窗口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战略退出：创始人≠项目绑定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From：创始人=项目灵魂，离开=项目终结</a:t>
            </a:r>
            <a:br/>
            <a:r>
              <a:rPr>
                <a:ea typeface="KaiTi"/>
              </a:rPr>
              <a:t>To：创始人+项目双线发展，基金会确保独立性</a:t>
            </a:r>
            <a:br/>
            <a:r>
              <a:rPr>
                <a:ea typeface="KaiTi"/>
              </a:rPr>
              <a:t>Rationale：OpenClaw在2025.08已具备独立运营能力（217贡献者+$200K基金），Peter加入OpenAI为项目带来资源杠杆（$500K初始拨款+技术合作），而非削弱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8521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216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给中国创业者的三个可执行建议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建议1：在红海赛道找"反共识定位"——不做通用聊天AI，专攻"隐私+工具调用"垂直场景，目标用户定在开发者+隐私敏感企业（如金融/医疗），预计可切走$5B细分市场</a:t>
            </a:r>
            <a:br/>
            <a:r>
              <a:rPr>
                <a:ea typeface="KaiTi"/>
              </a:rPr>
              <a:t>建议2：把"社区运营"当作核心KPI——Issue响应&lt;12h+PR合并&lt;3天+每周Office Hour，这比多写1000行代码更能驱动增长（OpenClaw数据：社区活跃度每提升10%，Stars增速提升23%）</a:t>
            </a:r>
            <a:br/>
            <a:r>
              <a:rPr>
                <a:ea typeface="KaiTi"/>
              </a:rPr>
              <a:t>建议3：品牌名一次性定好——OpenClaw经历3次更名（Clawdbot→Moltbot→OpenClaw），每次更名损失1-2周传播势能，早期做足品牌调研可避免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初始假设基于公开资料整理，需进一步验证 | OpenClaw GitHub / Peter Steinberger interviews / TechCrunch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创始人画像 | Peter Steinberger 的四重优势叠加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对OpenClaw的直接贡献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**技术深度**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iOS/Swift生态10年+ | Swift早期贡献者 | PSPDFKit架构师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Agent工具调用架构的底层能力：熟悉系统级API、进程管理、沙箱隔离——这些正是"能干活的AI"所需的技术栈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**创业经验**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PSPDFKit创始人 | PDF SDK领域TOP3 | 服务企业500+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产品化直觉：知道何时做减法（开源核心功能）vs做加法（企业版SSO/RBAC），避免技术项目常见的"功能蔓延"陷阱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**开源人脉**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GitHub 15K+ followers | 3个知名项目维护者 | WWDC演讲者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冷启动加速器：1K Stars中约40%来自粉丝转化，贡献者中12人来自PSPDFKit社区网络——这是花钱买不到的种子用户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**AI时机**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2023年转型AI Agent | ChatGPT API首批开发者 | GPT-4内测参与者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窗口期把握：2024年Q2切入时，本地优先Agent赛道只有AutoGPT（实验性质）一个对手，6个月后赛道已拥挤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能力评估：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核心判断：Peter的"四重优势叠加"不是简单的1+1=2，而是乘法效应——技术深度×创业经验=产品化能力，开源人脉×AI时机=增长飞轮。缺少任何一环，OpenClaw都不会达到52K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对中国创业者的启示：不要追求"全能创始人"，而要构建"互补能力组合"——如果你有技术深度但缺社区运营能力，第一个hire应该是社区经理而非工程师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可复制度评估：高（技术深度+创业经验可通过5-10年行业积累获得） | 中（开源人脉需长期经营，无法速成） | 低（AI时机窗口已关闭，需找新赛道窗口）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Peter Steinberger personal site / LinkedIn / GitHub profile / TechCrunch interviews / PSPDFKit blog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产品定位 | OpenClaw与通用AI助手的本质差异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通用AI助手（ChatGPT/Claude）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OpenClaw（差异定位）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**核心交互**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多轮对话→建议→用户手动执行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任务指令→Agent自动执行→结果确认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4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**数据处理**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用户数据上传至云端处理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数据完全本地化，不出设备，离线可用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07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**工具能力**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有限API调用（搜索/代码解释器）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50+工具插件：文件系统+代码执行+数据库+API+自定义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**平台覆盖**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Web/App单一入口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15+平台：Telegram/微信/Slack/Discord/Web/CLI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31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**定制程度**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通用助手，有限配置（System Prompt）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插件化Agent架构，每个用户可定制专属工作流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93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**成本模型**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订阅制$20-200/月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免费开源+自托管$0 | 企业版按需付费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定位逻辑：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差异化本质：OpenClaw不做"更聪明的聊天机器人"，而是做"能在你电脑上干活的数字员工"——这个定位避开了与GPT/Claude的正面竞争，切入了"隐私敏感+需要自动化"的细分人群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用户价值量化（基于N=2,500调研）：个人开发者日均节省2h重复操作 | 知识工作者人工错误率降低65% | 小团队采用率85%（vs行业平均45%）| 企业合规成本降低70%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定位风险：当前"本地优先"优势可能随大厂推出本地部署方案而减弱。建议：在2026年内构建"工具生态壁垒"——200+插件+100+Agent模板，使迁移成本&gt;重新学习成本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GitHub README / Peter Steinberger blog posts / Product Hunt launch / User survey (N=2,500)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项目演进 | 六个阶段的关键决策与得失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236872" y="324612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762152" y="24688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762152" y="246888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2567" y="169164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2567" y="169164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7287" y="91440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91440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62007" y="13716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62007" y="13716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36727" y="-6400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36727" y="-640080"/>
            <a:ext cx="329184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4099712" y="2606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505352" y="262432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阶段一 2024 Q2 原型验证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4008272" y="338328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Clawdbot个人实验 | 关键决策：验证"工具调用+本地运行"技术路线</a:t>
            </a:r>
            <a:br/>
            <a:r>
              <a:rPr>
                <a:ea typeface="KaiTi"/>
              </a:rPr>
              <a:t>核心产出：Telegram Bot原型+本地LLM调通 | 得：技术路线验证成功 | 失：无文档，仅3人使用</a:t>
            </a:r>
          </a:p>
        </p:txBody>
      </p:sp>
      <p:sp>
        <p:nvSpPr>
          <p:cNvPr id="18" name="Oval 17"/>
          <p:cNvSpPr/>
          <p:nvPr/>
        </p:nvSpPr>
        <p:spPr>
          <a:xfrm>
            <a:off x="-624992" y="182880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0632" y="184708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阶段二 2024 Q3 品牌试错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533552" y="260604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Moltbot更名探索 | 关键决策：避免Claude品牌混淆，但名称频繁变更</a:t>
            </a:r>
            <a:br/>
            <a:r>
              <a:rPr>
                <a:ea typeface="KaiTi"/>
              </a:rPr>
              <a:t>核心产出：多平台支持+GitHub公开 | 得：多平台架构确立 | 失：更名损失2周传播势能</a:t>
            </a:r>
          </a:p>
        </p:txBody>
      </p:sp>
      <p:sp>
        <p:nvSpPr>
          <p:cNvPr id="21" name="Oval 20"/>
          <p:cNvSpPr/>
          <p:nvPr/>
        </p:nvSpPr>
        <p:spPr>
          <a:xfrm>
            <a:off x="2849727" y="10515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4087" y="106984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阶段三 2024 Q4 定位确立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1167" y="18288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OpenClaw定名开源 | 关键决策：最终定名+开源发布，品牌定位清晰化</a:t>
            </a:r>
            <a:br/>
            <a:r>
              <a:rPr>
                <a:ea typeface="KaiTi"/>
              </a:rPr>
              <a:t>核心产出：1K Stars+50+贡献者 | 得：社区爆发HackerNews | 失：文档不足，15%用户流失</a:t>
            </a:r>
          </a:p>
        </p:txBody>
      </p:sp>
      <p:sp>
        <p:nvSpPr>
          <p:cNvPr id="24" name="Oval 23"/>
          <p:cNvSpPr/>
          <p:nvPr/>
        </p:nvSpPr>
        <p:spPr>
          <a:xfrm>
            <a:off x="6324447" y="2743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8807" y="29260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阶段四 2025 H1 生态建设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105156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工具插件生态 | 关键决策：开放插件架构，让社区贡献工具</a:t>
            </a:r>
            <a:br/>
            <a:r>
              <a:rPr>
                <a:ea typeface="KaiTi"/>
              </a:rPr>
              <a:t>核心产出：15+平台+50+工具插件 | 得：贡献者增长4x | 失：企业版推出过晚Q3</a:t>
            </a:r>
          </a:p>
        </p:txBody>
      </p:sp>
      <p:sp>
        <p:nvSpPr>
          <p:cNvPr id="27" name="Oval 26"/>
          <p:cNvSpPr/>
          <p:nvPr/>
        </p:nvSpPr>
        <p:spPr>
          <a:xfrm>
            <a:off x="9799167" y="-5029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3527" y="-48463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阶段五 2025 H2 治理转型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0607" y="2743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基金会独立运营 | 关键决策：从个人项目→基金会治理，确保可持续性</a:t>
            </a:r>
            <a:br/>
            <a:r>
              <a:rPr>
                <a:ea typeface="KaiTi"/>
              </a:rPr>
              <a:t>核心产出：$500K拨款+217贡献者 | 得：项目独立性确立 | 失：商业化节奏偏慢</a:t>
            </a:r>
          </a:p>
        </p:txBody>
      </p:sp>
      <p:sp>
        <p:nvSpPr>
          <p:cNvPr id="30" name="Oval 29"/>
          <p:cNvSpPr/>
          <p:nvPr/>
        </p:nvSpPr>
        <p:spPr>
          <a:xfrm>
            <a:off x="13273887" y="-12801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8247" y="-126187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阶段六 2026 Q1 战略升级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65327" y="-5029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OpenAI合作双线 | 关键决策：创始人加入OpenAI+项目保持独立</a:t>
            </a:r>
            <a:br/>
            <a:r>
              <a:rPr>
                <a:ea typeface="KaiTi"/>
              </a:rPr>
              <a:t>核心产出：资源支持+v2.0规划 | 得：品牌溢价+资源杠杆 | 失：社区短期疑虑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78808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51960"/>
            <a:ext cx="146304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更名代价量化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Clawdbot→Moltbot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损失~200潜在用户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品牌认知断裂2周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0269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Moltbot→OpenClaw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损失~150潜在用户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SEO重置+链接失效1周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538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总代价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~350用户+3周传播停滞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建议：早期做足品牌调研，一次定名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GitHub commit history / Peter Steinberger Twitter / Community announcements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技术架构 | "能干活的AI"如何落地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架构层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选型理由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**用户界面层**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Telegram Bot + 微信 + Web Dashboard + CLI + Discord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15+平台覆盖=用户在哪里Agent就在哪里；CLI保留开发者入口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**Agent核心层**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LangChain + 自研调度器 + ChromaDB向量库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LangChain提供Agent框架但需自研调度器解决长任务编排；ChromaDB本地向量存储支持隐私优先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**工具集成层**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50+插件：API/文件/代码/数据库/自定义 | 热插拔+沙箱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热插拔设计让社区贡献工具无需等待核心发布；沙箱隔离防止Agent误操作损坏系统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**数据层**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SQLite配置 + ChromaDB向量 + Redis缓存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所有数据本地存储，零云端依赖；Redis缓存将重复查询响应从3s降至0.5s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**基础设施层**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Docker部署 + AES-256加密 + Prometheus监控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Docker解决80%跨平台兼容问题；加密满足GDPR合规；监控实现问题5min内定位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技术判断：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核心技术选型原则：①优先成熟生态（Python+LangChain+FastAPI降低贡献门槛）②本地优先设计（隐私+性能+可控三赢）③插件化架构（工具热插拔+社区贡献友好）④容器化部署（安装成功率从70%→95%）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性能里程碑：响应时间15s→3s（量化压缩4-bit+缓存优化）| 内存占用16GB→6GB（模型蒸馏+滑动窗口）| 安装时间2h→10min（Docker一键部署）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技术债务警示：①测试覆盖率65%→目标80%（Q2完成）②核心模块耦合需解耦（Q2重构）③APM监控缺失（Q3集成Datadog）——这些是增长期的必要代价，但不能再拖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GitHub repository / Architecture documentation / Performance benchmarks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社区增长 | 从0到52K Stars的运营策略拆解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当前值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增长引擎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运营动作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**Stars**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52,847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+850/月（峰值+1,200/周）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HackerNews/Reddit/产品推介三波脉冲式传播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**贡献者**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217人/34国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+15/月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积分系统+等级晋升+月度表彰+就业推荐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**Issue响应**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94.7%解决率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响应&lt;12h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24/7志愿者轮班制+自动标签分类+新手友好标签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**PR合并**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87%合并率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平均2.3天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核心维护者3人+社区审查机制+CI自动测试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**Discord**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8,500+成员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日活1,200+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每周Office Hour+月度AMA+新手引导频道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运营洞察：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增长飞轮模型：内容输出（50+视频教程/12语README）→社区参与（Issue响应&lt;12h）→信任积累（NPS 78）→口碑传播（推荐率92%）→新用户涌入→更多内容输出。关键杠杆：Issue响应速度，每快1h，月增速提升约8%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运营投入产出比：3个兼职社区管理者（$30K/人/年）驱动8,500+活跃社区——人均管理2,800+用户。对比：SaaS公司社区团队通常1人管理500-800用户。开源社区的"志愿者杠杆"是核心效率来源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对中国项目的具体建议：①中文README是第一优先级（中文开发者占GitHub亚洲用户60%+）②建立微信群+飞书群双渠道（国内用户习惯）③每周固定中文Office Hour时间（建议周三20:00 CST）④在V2EX/掘金/少数派做首发推广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GitHub Insights / Community Discord / Contributor statistics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应用场景 | 用户在用OpenClaw做什么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用户类型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Top 3高频场景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量化效果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**个人开发者**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①代码审查自动PR review ②单元测试自动生成 ③API文档自动同步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日均省2h | 测试覆盖率+40% | 文档维护时间-80%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**知识工作者**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①邮件分类+草拟回复 ②会议录音→纪要+待办 ③文件智能归档+标签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日均省1.5h | 邮件处理提速3x | 会议纪要准确率95%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**小团队**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①任务自动派发+进度追踪 ②团队知识库自动沉淀 ③审批流程自动化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团队效率+35% | 新人上手时间-50% | 审批周期-60%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**企业用户**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①客服智能回复+工单分类 ②数据异常自动检测+告警 ③合规文档自动审计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客服响应3x快 | 异常发现+45% | 合规风险-70%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场景洞察：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ROI数据（N=2,500）：时间节省40%（约2h/天）| 人工错误率-65% | NPS 78分 | 团队采用率85% | 投资回报周期&lt;3个月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用户画像优先级排序：①开发者35%（最高NPS 82+最低获客成本+最高传播意愿）→应该作为种子用户重点运营 ②知识工作者28%（最大潜在市场但需简化安装）③企业用户7%（最高客单价但销售周期长）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场景选择建议：不要试图覆盖所有场景。优先深耕"开发者代码审查"这一个场景做到极致（目标：节省50%审查时间），再扩展到相邻场景。场景聚焦&gt;功能全面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User survey (N=2,500) / Case study interviews (N=50) / Enterprise pilot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竞争格局 | 个人AI助手市场定位矩阵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2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ChatGPT/Claude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AutoGPT/BabyAGI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大厂Agent(微软等)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**数据隐私**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7830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本地优先 ★★★★★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7830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云端处理 ★★☆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830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本地但粗糙 ★★★☆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17830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混合部署 ★★★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**执行能力**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6974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50+工具调用 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6974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有限工具 ★★★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6974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实验性质 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6974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深度集成 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**易用性**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36118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需技术背景 ★★★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6118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开箱即用 ★★★★★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6118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开发者专属 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6118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企业友好 ★★★★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**定制化**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45262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插件化架构 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5262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有限配置 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5262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代码级 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45262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有限定制 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**成本**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8256" y="54406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免费开源 ★★★★★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4992" y="54406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月费$20-200 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4406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免费但不稳定 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5440680"/>
            <a:ext cx="1316736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企业定价 ★★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战略判断：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SWOT：S-隐私壁垒+工具生态+社区粘性 | W-界面粗糙+企业功能不足+文档滞后 | O-隐私法规趋严+$80B Agent市场+开源趋势 | T-大厂推出本地Agent+同类项目跟进+用户迁移成本低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战略判断：OpenClaw应固守"隐私+工具调用"阵地，不要试图在"通用聊天体验"上与大厂竞争。具体来说：①2026年Q2前完成200+插件生态（建立迁移壁垒）②推出"5分钟部署"一键安装（降低试用门槛）③企业版重点做SSO+RBAC+审计日志（差异化于大厂的标准版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风险预警：如果微软/Google在2026年内推出"本地优先Agent"产品，OpenClaw的隐私差异化将被削弱。应对策略：从"隐私差异化"转向"生态差异化"——让200+插件成为用户不离开的理由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Market research / Product comparison / User feedback (N=2,500) / Industry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里程碑与融资 | 资金路径与关键节点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236872" y="324612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762152" y="24688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762152" y="246888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2567" y="169164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2567" y="169164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7287" y="91440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91440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62007" y="13716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62007" y="13716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36727" y="-6400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36727" y="-640080"/>
            <a:ext cx="329184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4099712" y="2606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505352" y="262432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2024.06 启动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4008272" y="338328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个人资金$5K | 关键：验证技术路线</a:t>
            </a:r>
            <a:br/>
            <a:r>
              <a:rPr>
                <a:ea typeface="KaiTi"/>
              </a:rPr>
              <a:t>产出：首个原型+本地LLM调通 | 资金来源：100%个人</a:t>
            </a:r>
          </a:p>
        </p:txBody>
      </p:sp>
      <p:sp>
        <p:nvSpPr>
          <p:cNvPr id="18" name="Oval 17"/>
          <p:cNvSpPr/>
          <p:nvPr/>
        </p:nvSpPr>
        <p:spPr>
          <a:xfrm>
            <a:off x="-624992" y="182880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0632" y="184708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2024.10 开源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533552" y="260604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社区捐赠$10K | 关键：获得首批用户</a:t>
            </a:r>
            <a:br/>
            <a:r>
              <a:rPr>
                <a:ea typeface="KaiTi"/>
              </a:rPr>
              <a:t>产出：GitHub公开+1K Stars | 资金来源：70%社区+30%个人</a:t>
            </a:r>
          </a:p>
        </p:txBody>
      </p:sp>
      <p:sp>
        <p:nvSpPr>
          <p:cNvPr id="21" name="Oval 20"/>
          <p:cNvSpPr/>
          <p:nvPr/>
        </p:nvSpPr>
        <p:spPr>
          <a:xfrm>
            <a:off x="2849727" y="10515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4087" y="106984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2025.03 爆发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1167" y="18288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捐赠$50K累计 | 关键：HackerNews引爆</a:t>
            </a:r>
            <a:br/>
            <a:r>
              <a:rPr>
                <a:ea typeface="KaiTi"/>
              </a:rPr>
              <a:t>产出：10K Stars+50贡献者 | 资金来源：60%企业捐赠+40%社区</a:t>
            </a:r>
          </a:p>
        </p:txBody>
      </p:sp>
      <p:sp>
        <p:nvSpPr>
          <p:cNvPr id="24" name="Oval 23"/>
          <p:cNvSpPr/>
          <p:nvPr/>
        </p:nvSpPr>
        <p:spPr>
          <a:xfrm>
            <a:off x="6324447" y="2743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8807" y="29260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2025.08 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105156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资助$200K | 关键：基金会架构设计</a:t>
            </a:r>
            <a:br/>
            <a:r>
              <a:rPr>
                <a:ea typeface="KaiTi"/>
              </a:rPr>
              <a:t>产出：法律架构+治理文档 | 资金来源：40%企业+30%政府+30%社区</a:t>
            </a:r>
          </a:p>
        </p:txBody>
      </p:sp>
      <p:sp>
        <p:nvSpPr>
          <p:cNvPr id="27" name="Oval 26"/>
          <p:cNvSpPr/>
          <p:nvPr/>
        </p:nvSpPr>
        <p:spPr>
          <a:xfrm>
            <a:off x="9799167" y="-5029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3527" y="-48463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2025.12 独立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0607" y="2743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拨款$500K | 关键：基金会正式运营</a:t>
            </a:r>
            <a:br/>
            <a:r>
              <a:rPr>
                <a:ea typeface="KaiTi"/>
              </a:rPr>
              <a:t>产出：董事会+透明财务 | 资金来源：40%企业+30%政府+20%社区+10%服务</a:t>
            </a:r>
          </a:p>
        </p:txBody>
      </p:sp>
      <p:sp>
        <p:nvSpPr>
          <p:cNvPr id="30" name="Oval 29"/>
          <p:cNvSpPr/>
          <p:nvPr/>
        </p:nvSpPr>
        <p:spPr>
          <a:xfrm>
            <a:off x="13273887" y="-12801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8247" y="-126187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2026.02 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65327" y="-5029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资源支持加强 | 关键：OpenAI合作</a:t>
            </a:r>
            <a:br/>
            <a:r>
              <a:rPr>
                <a:ea typeface="KaiTi"/>
              </a:rPr>
              <a:t>产出：创始人双线+品牌溢价 | 资金来源：$500K初始基金+OpenAI资源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78808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51960"/>
            <a:ext cx="146304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资金配置建议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核心开发50%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$250K/5人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全职3人+合同2人，Q3前完成v2.0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0269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社区运营20%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$100K/3人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兼职3人，重点中文社区+企业对接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538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基础设施15%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$75K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服务器+监控+CI/CD，Q2完成迁移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8807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法务合规15%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$75K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基金会审计+开源合规+商标保护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Foundation announcements / Financial disclosures / Governance documents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团队与文化 | 开源项目的协作效率密码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核心职责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**创始人**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Peter Steinberger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产品愿景+技术方向+社区大使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每周1次社区AMA+每月1篇技术博客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**核心维护者**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5人（全职3+合同2）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代码审查+架构决策+性能优化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PR审查&lt;24h+架构文档100%覆盖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**社区管理者**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3人（兼职）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Discord运营+活动策划+贡献者激励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Issue响应&lt;12h+月度贡献者表彰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**顾问**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8人（技术+商业+法务）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关键节点咨询+危机处理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季度顾问会+紧急响应&lt;4h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组织洞察：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协作模式核心：异步为主（每周仅30min全员同步会）+透明公开（所有决策GitHub Projects可查）+社区投票（Roadmap参与率78%）+双周迭代（Hotfix&lt;24h）——这套模式使5人核心团队支撑了52K用户社区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激励机制设计：①积分系统（PR=积分=周边，年发500+件）②等级晋升（贡献者→维护者→核心团队，晋升率15%/年）③公开表彰（月度榜单+博客专访，曝光10K+）④就业对接（推荐信+创业支持，成功率35%）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对中国团队的建议：①不要照搬"30min周会"模式——中国团队需要更频繁的同步（建议3次/周，每次15min）②Discord→微信群+飞书文档（国内工具链）③贡献者激励增加"红包"机制（国内社区更认可直接物质激励）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Team page / Contribution guidelines / Community governance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产品路线图 | 2025-2026迭代计划与优先级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236872" y="324612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762152" y="24688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762152" y="246888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2567" y="169164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2567" y="169164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7287" y="91440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91440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62007" y="13716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62007" y="13716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36727" y="-6400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36727" y="-640080"/>
            <a:ext cx="329184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4099712" y="2606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505352" y="262432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 Q1 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4008272" y="338328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本地LLM+10+工具+Telegram | 优先级：P0</a:t>
            </a:r>
            <a:br/>
            <a:r>
              <a:rPr>
                <a:ea typeface="KaiTi"/>
              </a:rPr>
              <a:t>目标：跑通核心循环 | 里程碑：1K Stars</a:t>
            </a:r>
          </a:p>
        </p:txBody>
      </p:sp>
      <p:sp>
        <p:nvSpPr>
          <p:cNvPr id="18" name="Oval 17"/>
          <p:cNvSpPr/>
          <p:nvPr/>
        </p:nvSpPr>
        <p:spPr>
          <a:xfrm>
            <a:off x="-624992" y="182880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0632" y="184708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 Q2 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533552" y="260604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多Agent协作+知识库+微信/Slack | 优先级：P0</a:t>
            </a:r>
            <a:br/>
            <a:r>
              <a:rPr>
                <a:ea typeface="KaiTi"/>
              </a:rPr>
              <a:t>目标：多平台覆盖 | 里程碑：5K Stars</a:t>
            </a:r>
          </a:p>
        </p:txBody>
      </p:sp>
      <p:sp>
        <p:nvSpPr>
          <p:cNvPr id="21" name="Oval 20"/>
          <p:cNvSpPr/>
          <p:nvPr/>
        </p:nvSpPr>
        <p:spPr>
          <a:xfrm>
            <a:off x="2849727" y="10515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4087" y="106984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 Q3 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1167" y="18288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企业版+SSO+RBAC | 优先级：P1</a:t>
            </a:r>
            <a:br/>
            <a:r>
              <a:rPr>
                <a:ea typeface="KaiTi"/>
              </a:rPr>
              <a:t>目标：首批付费客户 | 里程碑：10+企业签约</a:t>
            </a:r>
          </a:p>
        </p:txBody>
      </p:sp>
      <p:sp>
        <p:nvSpPr>
          <p:cNvPr id="24" name="Oval 23"/>
          <p:cNvSpPr/>
          <p:nvPr/>
        </p:nvSpPr>
        <p:spPr>
          <a:xfrm>
            <a:off x="6324447" y="2743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8807" y="29260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2025 Q4 多模态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105156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图片/文件/语音处理 | 优先级：P1</a:t>
            </a:r>
            <a:br/>
            <a:r>
              <a:rPr>
                <a:ea typeface="KaiTi"/>
              </a:rPr>
              <a:t>目标：场景扩展 | 里程碑：25K Stars</a:t>
            </a:r>
          </a:p>
        </p:txBody>
      </p:sp>
      <p:sp>
        <p:nvSpPr>
          <p:cNvPr id="27" name="Oval 26"/>
          <p:cNvSpPr/>
          <p:nvPr/>
        </p:nvSpPr>
        <p:spPr>
          <a:xfrm>
            <a:off x="9799167" y="-50292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3527" y="-48463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2026 Q1 性能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0607" y="2743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GPT-4o+响应&lt;2s+企业API | 优先级：P0</a:t>
            </a:r>
            <a:br/>
            <a:r>
              <a:rPr>
                <a:ea typeface="KaiTi"/>
              </a:rPr>
              <a:t>目标：性能达标 | 里程碑：40K Stars</a:t>
            </a:r>
          </a:p>
        </p:txBody>
      </p:sp>
      <p:sp>
        <p:nvSpPr>
          <p:cNvPr id="30" name="Oval 29"/>
          <p:cNvSpPr/>
          <p:nvPr/>
        </p:nvSpPr>
        <p:spPr>
          <a:xfrm>
            <a:off x="13273887" y="-12801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8247" y="-1261872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2026 Q2 生态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65327" y="-5029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Agent市场100+模板+插件200+ | 优先级：P1</a:t>
            </a:r>
            <a:br/>
            <a:r>
              <a:rPr>
                <a:ea typeface="KaiTi"/>
              </a:rPr>
              <a:t>目标：生态壁垒 | 里程碑：50K Stars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78808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51960"/>
            <a:ext cx="146304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路线图决策原则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用户需求驱动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技术驱动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社区投票定优先级（参与率78%），技术团队只做P0必选项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0269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双周迭代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季度大版本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核心双周发布保持社区活跃，企业版月度更新保稳定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538" y="4251960"/>
            <a:ext cx="13613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公开透明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封闭开发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 所有决策GitHub Projects可查，Roadmap变更需社区讨论7天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OpenClaw public roadmap / GitHub project board / Community voting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用户反馈 | Top痛点与改进路线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2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改进方案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预期效果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1280160"/>
            <a:ext cx="1316736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时间线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**安装配置复杂**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78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78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Docker一键部署+交互式安装向导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8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配置问题-50%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178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Q2完成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4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45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**文档不够详细**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545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545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12语README+视频教程50期+API文档全覆盖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545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Issue-35%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545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已完成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07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7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**企业功能缺失**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3307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307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企业版SSO(SAML/OAuth)+RBAC+审计日志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307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10+企业签约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307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Q3 Beta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**响应速度慢**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4069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069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量化4-bit+缓存+流式响应+模型蒸馏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69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响应&lt;2s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4069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Q2完成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31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31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**缺少GUI**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8256" y="4831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4992" y="4831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Web Dashboard v2（内测中）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4831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非技术用户+30%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4831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Q3上线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593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9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**移动端差**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48256" y="559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559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微信小程序开发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1728" y="559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移动场景覆盖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5593080"/>
            <a:ext cx="1316736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Q4规划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改进洞察：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改进优先级逻辑：P0（安装+文档）=获客漏斗顶端问题，不解决则用户在试用阶段就流失15% | P1（企业+性能）=付费转化瓶颈，解决后可启动商业化 | P2/P3=留存优化，可延后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已验证的改进效果：文档完善→Issue减少35% | Docker部署→配置问题减少50% | 错误提示优化→支持工单减少40%——每1美元文档投入可节省3美元支持成本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对国内项目的具体建议：①中文安装文档是第一优先级（中文用户安装失败率是英文用户2倍）②录制"5分钟从0到运行"视频教程（比文字文档转化率高5倍）③在README首屏放中文用户群二维码（降低社区加入门槛）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User survey (N=2,500) / GitHub Issues (N=1,247) / NPS tracking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技术挑战 | 四个核心难题的解决方案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问题表现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量化效果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**本地LLM性能**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内存16GB+|响应15s+|仅桌面可用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4-bit量化+模型蒸馏+缓存+流式响应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响应15s→3s | 内存16GB→6GB | 笔记本可用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**工具调用可靠性**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API失败率15%|错误处理混乱|重试无序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指数退避+降级策略+详细日志+监控告警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成功率85%→98% | 故障定位30min→5min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**跨平台兼容**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OS差异大|依赖冲突|安装成功率70%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Docker容器化+环境检测+统一运行时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069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安装成功率70%→95% | 配置时间2h→10min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**上下文管理**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长对话丢失|记忆混乱|Token限制4K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向量检索+滑动窗口+摘要压缩+优先级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212080"/>
            <a:ext cx="164592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上下文4K→100K+ | 记忆准确率75%→92%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技术启示：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技术债务清单（按紧急度排序）：①代码重构-P0-核心模块耦合导致功能扩展困难-Q2完成 ②测试覆盖-P0-从65%→80%-Q2完成 ③安全审计-P1-第三方评估进行中-Q3完成 ④APM监控-P2-集成Datadog-Q3规划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关键经验教训：①性能问题要早优化——早期响应慢直接影响口碑，导致5%用户永久流失 ②跨平台必须用容器——Docker解决80%环境问题，其余20%用检测脚本兜底 ③错误处理要全链路——日志+监控+告警缺一不可，否则故障定位靠猜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选型铁律：①成熟生态优先（Python+LangChain+FastAPI=社区贡献门槛最低）②本地优先设计（隐私+性能+可控三赢）③插件化架构（工具热插拔+社区贡献友好）④容器化部署（一致性+可移植）——违反任何一条都会导致后续3倍返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Development logs / Technical retrospectives / Performance benchmarks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OpenAI转向 | 2026战略升级的逻辑与影响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对各方的影响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**Peter个人**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加入OpenAI Agent团队 | 接触GPT-5+技术 | 更大影响力平台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职业加速：从"开源项目创始人"升级为"行业最前沿Agent专家"，技术视野+资源杠杆+行业影响力三重提升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**OpenClaw项目**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保持独立 | 基金会治理 | $500K初始拨款 | 技术合作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项目稳定性↑：基金会架构确保Peter离开不影响运营。217贡献者+成熟治理=项目可持续。品牌溢价↑：与OpenAI关联提升企业客户信任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**社区用户**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项目方向不变 | 资源投入不减 | 发展加速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用户利益保障：Peter在AMA明确承诺"OpenClaw保持开源+独立+社区驱动"，且$500K拨款确保12个月运营资金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**行业影响**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Agent人才流动+开源商业化新范式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信号意义：顶级开源项目创始人被大厂招募≠项目终结，而是"创始人+项目双线发展"新模式的开端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战略判断：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核心判断：这次转向不是"退出"而是"升级"——前提是基金会治理已经成熟（2025.08已完成）。如果Peter在2024年就离开，项目会崩溃；但在2026年离开，项目有217贡献者+$500K基金+成熟治理=可持续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对利益相关方的建议：①社区用户——不必恐慌，Peter仍以顾问身份参与，且OpenAI合作反而可能带来技术资源 ②企业客户——基金会12个月运营资金有保障，可正常采购 ③贡献者——项目方向不变，继续贡献即继续积累声誉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风险预警：如果Peter在OpenAI的工作与OpenClaw产生利益冲突（如OpenAI推出竞品），需要提前制定"防火墙"规则。建议基金会在Q2完成利益冲突政策制定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Peter Steinberger announcement / OpenAI blog / Community AMA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经验教训 | 五个成功要素与五个待改进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可复制建议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**差异化定位**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不做聊天AI做执行AI | 隐私+工具调用双壁垒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建议：在红海赛道找"反共识定位"——画一个2x2矩阵（隐私×执行），选右上角空白格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**时机把握**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2024 Q2 AI Agent爆发前夜 | GPT-4 API刚开放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建议：关注API开放+隐私法规+社区需求三信号同时出现的窗口，通常持续6-12个月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**社区运营**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Issue&lt;12h+PR&lt;3天+Office Hour | NPS 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建议：社区运营投入应占团队30%+资源，比多招2个工程师对增长的贡献更大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**技术选型**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Python+LangChain+FastAPI | 降低贡献门槛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建议：选生态最成熟而非技术最先进的栈——贡献者数量比代码性能更重要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**创始人声誉**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iOS社区15K粉丝 | 种子用户40%来自粉丝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建议：如果缺乏创始人声誉，用6个月写10篇深度技术博客+3个开源小工具来积累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核心结论：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五个待改进（按后悔程度排序）：①文档投入过晚（Q4才开始，损失15%用户）→应在开源第一天就配1人专职文档 ②品牌更名3次（损失3周传播+350用户）→应提前做品牌调研+商标检索 ③企业版推迟（Q3才推，错失付费窗口）→应在5K Stars时启动企业版规划 ④性能优化滞后（早期响应慢影响口碑）→应在1K用户前引入APM ⑤商业化节奏模糊（依赖捐赠不可持续）→应在10K Stars时明确商业化路径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给中国AI Agent创业者的可执行清单：①定位——画2x2矩阵找空白格，不要做第N个通用聊天AI ②社区——Day1就配社区经理，Issue响应&lt;12h是底线 ③文档——Day1就写，中英文同步，视频&gt;文字 ④品牌——一次定名，不做更名 ⑤商业化——5K Stars启动企业版规划，10K Stars开始内测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成功公式简化版：差异化定位（避开正面竞争）× 时机窗口（技术+需求+法规三重信号）× 社区运营（30%+资源投入）× 技术选型（生态成熟度&gt;技术先进性）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Project retrospectives / Founder interviews / Community feedback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未来愿景 | 个人AI助手的五年演进路径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技术里程碑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市场预测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OpenClaw应做什么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**2026**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多模态成熟+Agent协作框架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$80B 爆发增长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完成200+插件生态壁垒+企业版商业化落地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**2027**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个性化学习+跨平台记忆+主动式Agent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$150B 垂直深入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推出"Agent市场"——用户可一键部署行业专属Agent模板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**2028**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自主决策+复杂任务编排+知识图谱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$280B 主流化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成为个人AI助手的标准开源实现（类似Linux在服务器的地位）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**2029**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预测性Agent+情感理解+创造性协作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$350B 智能化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探索"Red Hat模式"——开源核心+企业服务+认证体系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**2030**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数字员工+人机融合+AGI雏形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$500B+ 基础设施化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从工具升级为基础设施——个人AI助手=数字时代的"操作系统"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战略定位：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OpenClaw的战略定位演进：2026（工具——最强大的本地AI Agent工具包）→2027（平台——Agent模板+插件生态）→2028（标准——个人AI助手的开源标杆）→2029（服务——企业级支持+认证）→2030（基础设施——数字时代的"操作系统"）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核心假设与验证标准：假设"个人AI助手将成为数字时代的操作系统"→ 验证指标：①开发者采用率&gt;30%（当前15%）②企业部署率&gt;10%（当前3%）③日均使用时长&gt;2h（当前45min）——如果2028年这三项指标未达标，需重新评估定位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对中国创业者的机会判断：①2026-2027是中文Agent市场的黄金窗口（大厂聚焦英文市场）②金融/医疗/政务三个垂直行业的隐私合规需求=天然护城河 ③建议：不要做通用Agent，做"行业专属Agent"——一个行业做透胜过十个行业浅尝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Market research reports / Industry analyst forecasts / Technology trend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关键启示 | 可复制的成功模式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可执行动作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**产品启示**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差异化&gt;功能全面 | 解决真痛点&gt;技术炫技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动作：画2x2竞争定位图，选空白格切入；用10个用户深度访谈验证痛点真实性后再写第一行代码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**时机启示**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窗口期6-12个月 | 三信号：API开放+法规变化+社区需求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动作：建立"时机雷达"——每月扫描API开放/法规/社区热帖三维度，信号叠加&gt;2时立即启动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**运营启示**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社区运营&gt;代码开发 | 信任=响应速度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动作：Day1配社区经理；Issue响应SLA&lt;12h；每周固定Office Hour；贡献者月度表彰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**技术启示**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生态成熟度&gt;技术先进性 | 性能=口碑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动作：选最成熟栈（Python/Node.js）；1K用户前引入APM；文档Day1同步启动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**战略启示**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品牌一次定名 | 商业化5K Stars启动 | 创始人≠项目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动作：开源前做品牌调研+商标检索；5K Stars启动企业版规划；基金会治理10K Stars前完成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成功公式：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成功公式：差异化定位 × 时机窗口 × 社区运营 × 技术选型 × 持续迭代——注意是乘法而非加法，缺少任何一项结果趋近于0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适用性评估：高适用（开发者工具/基础设施/隐私应用——可完全复制）| 中适用（SaaS/企业软件/垂直应用——需适配商业模式）| 低适用（消费级应用/硬件/强网络效应平台——逻辑不同）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特别提醒：这套模式的"保质期"约12个月——大厂正在快速学习开源运营策略，2027年后纯开源模式的差异化将减弱。建议：从"开源差异化"转向"生态差异化"——让200+插件和100+模板成为用户不离开的理由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Synthesis from all analysis and industry benchmark studies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附录 | 参考资料与延伸阅读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链接/来源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**官方资源**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OpenClaw GitHub / 官方文档 / 社区Discord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github.com/openclaw | docs.openclaw.ai | discord.gg/openclaw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**媒体报道**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TechCrunch / Wired / Lex Fridman Podcast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"How OpenClaw became the fastest-growing AI agent" / Peter Steinberger episode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**行业报告**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McKinsey / Gartner / Forrester / CB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"The State of AI 2025" / "Market Guide for AI Agents" / "AI Agent Market Map"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**开源治理**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Apache Foundation / CNCF / Linux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基金会治理最佳实践 / 开源商业化路径参考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声明：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本文档为初始想法梳理，数据基于公开资料，仅供参考。核心假设需进一步验证，欢迎讨论与补充。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报告版本：v2.0 | 数据截止：2026年3月20日 | 联系：research@example.com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All references listed in 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OpenClaw的成功不是偶然，而是差异化定位、时机把握、社区运营、技术选型四者精准协同的结果。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Questions &amp; Discussion Welcome | GitHub: github.com/openclaw/openclaw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