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2026 全球大趋势：在碎片化世界中寻找新范式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特朗普2.0时代的全球重构、AI的落地考量与经济气候的临界点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核心洞见与金字塔顶端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2026年标志着旧有全球秩序的彻底终结，企业和国家必须在"地缘政治高度碎片化"与"技术红利深度下沉"的夹击中寻找生存之道。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地缘政治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美国走向孤立与交易型外交，中国加速布局全球南方，欧洲被迫军事觉醒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全球经济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关税引发供应链"敏捷重构"，高赤字导致债券市场面临灰犀牛风险，全球步入2.4%的平庸增长期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技术演进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AI从"狂热投资"转向"企业ROI落地"，底层白领岗位面临系统性消失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社会与环境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1.5°C气候红线被正式突破，廉价GLP-1减肥药重塑全球健康版图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全球趋势研究报告,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美国的孤立主义与"交易型外交"重塑全球规则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周年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美国建国250周年之际，内部分歧达到顶峰，总统权力空前扩张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详细说明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外交不再基于战略同盟，而是通过关税大棒和利益交换解决问题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美国可能动摇美联储的独立性，引发全球金融市场动荡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各国无法再依赖美国的"安全伞"，必须两头下注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地缘政治分析,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中国的战略机遇：以"确定性"赢取全球南方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在2026年的APEC峰会上，中国将向亚洲传递"信任我们，而不是美国"的明确信号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面对关税壁垒，中国出口展现出极强韧性，过剩产能正迅速重新路由至东盟、拉美和非洲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中国在气候和AI外交上展现负责任大国形象，填补美国退群留下的真空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中国以"确定性"对冲美国的"不可预测性"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AI和绿色技术输出成为新外交工具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全球南方成为中国的战略腹地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中国战略研究,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欧洲的被动觉醒：国防激增与极右翼崛起的双重夹击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国防支出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到2028年激增7000-8000亿欧元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部分国家需迈向3.5% GDP目标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德国政治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极右翼（AfD）可能突破"防火墙"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进入州政府执政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法国政治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民粹主义者执政风险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面临宪政危机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关键判断：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失去美国绝对保护，欧洲被迫开启冷战后最大规模重新武装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18338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8338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政治隐患：德国极右翼可能进入州政府，法国面临宪政危机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欧洲政治分析, 2026</a:t>
            </a:r>
          </a:p>
        </p:txBody>
      </p:sp>
      <p:pic>
        <p:nvPicPr>
          <p:cNvPr id="28" name="Picture 2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灰地带博弈：战争与和平的界限日益模糊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台湾海峡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中国大陆不太可能在2026年直接动武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将加剧"蟒蛇战略"（Anaconda strategy）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通过海警巡逻、无人机和切断海底电缆窒息台湾经济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太空竞赛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中美俄将在太空展开军事角力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卫星监视与反卫星武器技术日益透明化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太空军事化成为新常态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军事战略分析, 2026</a:t>
            </a:r>
          </a:p>
        </p:txBody>
      </p:sp>
      <p:pic>
        <p:nvPicPr>
          <p:cNvPr id="13" name="Picture 1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宏观经济：平庸增长与潜伏的"债券危机"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全球经济增速放缓至2.4%，创纪录的公共债务和高关税引发通胀粘性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关税推高了美国的通胀基数（提升约1个百分点），限制了美联储降息的空间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最危险的灰犀牛：发达经济体债务占GDP比例超110%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法国深陷预算危机，巨额赤字叠加AI基建狂潮引发的资本短缺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全球经济展望,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供应链的非自愿重构与"关税生存学"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应对策略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比例/现状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计划区域化闭环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28%企业（到2030年）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供应链敏捷重构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通过AI裁员对冲成本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42%企业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冻结招聘岗位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全球贸易增长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跌至不足2%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贸易量萎缩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核心趋势：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企业不再抱有幻想，开始主动应对关税混乱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18338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8338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通过涨价、裁员（借助AI）和供应链近岸化来应对关税冲击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供应链调研, 2026</a:t>
            </a:r>
          </a:p>
        </p:txBody>
      </p:sp>
      <p:pic>
        <p:nvPicPr>
          <p:cNvPr id="28" name="Picture 2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大宗商品的"冰火两重天"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看涨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黄金可能突破4500美元/盎司（地缘政治焦虑+通胀威胁）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铜等清洁能源金属因关税和电网需求剧烈波动并看涨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绿色转型金属迎来结构性牛市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看跌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原油价格承压（经济疲软+新产能投产）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粮食价格承压（全球经济疲软）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化石燃料过剩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371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1018001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大宗商品市场出现严重分化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大宗商品分析, 2026</a:t>
            </a:r>
          </a:p>
        </p:txBody>
      </p:sp>
      <p:pic>
        <p:nvPicPr>
          <p:cNvPr id="14" name="Picture 1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印度与新兴市场的经济洗牌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里程碑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印度在2026年超越日本成为全球第四大经济体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人口普查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16年来首次全国人口普查，重塑种姓配额、女性政治参与权和选区版图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改革先锋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阿根廷（米莱改革）和越南（全面私营部门改革）展现突围潜力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新兴市场研究, 2026</a:t>
            </a:r>
          </a:p>
        </p:txBody>
      </p:sp>
      <p:pic>
        <p:nvPicPr>
          <p:cNvPr id="15" name="Picture 14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AI的大考之年：从"烧钱买算力"到"证明投资回报"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企业AI试点失败率曾高达95%，2026年重点是推广能完成端到端任务的"AI智能体"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科技巨头在AI基建上砸下数千亿美元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如果AI的效率提升迟迟无法体现在企业财报中，科技股估值将面临破灭风险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2026年市场将无情拷问AI在企业端实际的"生产力转化率"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AI产业分析,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职场阶梯的断裂：AI"屠杀"初级白领岗位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最易受AI冲击的群体是22-25岁的初级知识工作者（如初级代码、客服）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其就业率已出现双位数下滑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高管和资深员工获得了AI带来的杠杆赋能，而公司减少了初级招聘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应届毕业生面临地狱模式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企业组织架构从"金字塔型"压缩为"钻石型"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新人失去成长的"垫脚石"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劳动力市场分析,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中国科技的"非对称竞争"：绕过封锁与"AI+"落地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芯片自强：中国企业通过FP8等低精度数据格式和软硬件结合，极大弥补了高端光刻机缺失的短板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华为、寒武纪等国内AI芯片份额将突破50%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错位竞争：美国追求AGI，而中国通过第15个五年计划主推"AI+"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算力效率优化弥补硬件短板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"AI+"战略实现规模化应用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行业大模型成为突破点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中国科技战略,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具身智能（Embodied AI）与人形机器人的爆发前夜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"盲人体操运动员"困境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投放市场收集数据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1x, Tesla等企业领先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虚拟环境局限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真实物理交互数据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数万台机器人投放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自动化渗透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从实验室到工厂/家庭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推动实体经济转型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关键突破：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仅靠虚拟环境无法解决机器人的"盲人体操运动员"困境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企业通过将数万台机器人投放市场来获取真实的物理交互数据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推动自动化向实体经济渗透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机器人产业分析, 2026</a:t>
            </a:r>
          </a:p>
        </p:txBody>
      </p:sp>
      <p:pic>
        <p:nvPicPr>
          <p:cNvPr id="30" name="Picture 29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气候目标的失败与"超调（Overshoot）时代"的到来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1.5°C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气候变暖防线在2026年将大概率被正式突破，全球被迫进入昂贵且危险的气候"超调"期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剩余的碳预算已耗尽，未来政策重点将从"预防"转向"适应"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地热能凭借"增强型地热系统（EGS）"的压裂技术突破，成为基荷清洁能源黑马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极度昂贵的"碳捕获技术（负排放）"成为必需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气候变化研究,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"主权与领土解绑"：全球首批气候难民诞生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海平面上升正在重塑国际法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图瓦卢居民作为全球首批官方认证的气候难民正式迁往澳大利亚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国家的存在首次不再依赖于物理领土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即便被淹没，图瓦卢仍将保留联合国席位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庞大的海洋经济专属区继续存在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国际法面临历史性挑战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国际法研究,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GLP-1减肥药的"平民化"革命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专利悬崖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以司美格鲁肽为代表的专利在多个新兴市场到期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价格暴跌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中国和印度药企将以极低价格将减肥药推向全球（成本降低80%）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外溢效应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人们不仅吃得更少，连酒精和葡萄酒的消费量也在经历世俗化衰退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医药产业分析, 2026</a:t>
            </a:r>
          </a:p>
        </p:txBody>
      </p:sp>
      <p:pic>
        <p:nvPicPr>
          <p:cNvPr id="15" name="Picture 14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美国的大规模驱逐与移民倒退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影响领域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长期后果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高等教育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国际留学生签证收紧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科研机构流失顶尖大脑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科技人才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大规模驱逐行动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削弱美国AI和创新能力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竞争力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人才储备枯竭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长远竞争力受损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战略影响：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驱逐行动和对国际留学生签证的收紧，导致美国科研机构流失大量顶尖大脑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18338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8338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直接削弱美国在AI和创新领域的长远竞争力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移民政策研究, 2026</a:t>
            </a:r>
          </a:p>
        </p:txBody>
      </p:sp>
      <p:pic>
        <p:nvPicPr>
          <p:cNvPr id="28" name="Picture 2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2026年的赢家与输家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赢家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拥抱"AI+"进行降本增效的企业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国防军工巨头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印度/越南等供应链替代国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黄金与铜矿投资者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生产廉价减肥药的亚洲药企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输家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依赖美国补贴的欧洲整车厂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传统的葡萄酒与高糖食品生产商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缺乏经验的初级白领应届生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债台高筑的西方政府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371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1018001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资产类别与商业主体的命运发生大洗牌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战略分析, 2026</a:t>
            </a:r>
          </a:p>
        </p:txBody>
      </p:sp>
      <p:pic>
        <p:nvPicPr>
          <p:cNvPr id="14" name="Picture 1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给高管的四大战略建议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地缘避险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短期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放弃全球化幻想，建立"区域服务区域"的闭环供应链（Local for Local），对冲关税的突然袭击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负责人：CEO/CFO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563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AI的务实投资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9403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中期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停止盲目追求大模型概念，考核AI投资的真实ROI，重塑以中高级人才为核心的"钻石型"敏捷组织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23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负责人：CTO/COO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财务护城河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在政府债务危机和高利率隐患下，储备充足现金流（效仿伯克希尔哈撒韦），警惕主权债券爆雷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607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171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331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捕捉新红利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171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331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长期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331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关注"老龄化+减肥药"引发的健康消费变革，以及"全球南方"崛起带来的增量市场空间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491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331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负责人：CMO/CSO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战略咨询建议, 2026</a:t>
            </a:r>
          </a:p>
        </p:txBody>
      </p:sp>
      <p:pic>
        <p:nvPicPr>
          <p:cNvPr id="33" name="Picture 3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