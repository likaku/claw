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2026 全球大趋势：在碎片化世界中寻找新范式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特朗普2.0时代的全球重构、AI的落地考量与经济气候的临界点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核心洞见与金字塔顶端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2026年标志着旧有全球秩序的彻底终结，企业和国家必须在"地缘政治高度碎片化"与"技术红利深度下沉"的夹击中寻找生存之道。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地缘政治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美国走向孤立与交易型外交，中国加速布局全球南方，欧洲被迫军事觉醒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全球经济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关税引发供应链"敏捷重构"，高赤字导致债券市场面临灰犀牛风险，全球步入2.4%的平庸增长期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技术演进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AI从"狂热投资"转向"企业ROI落地"，底层白领岗位面临系统性消失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社会与环境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0292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1.5°C气候红线被正式突破，廉价GLP-1减肥药重塑全球健康版图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全球趋势研究报告,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美国的孤立主义与"交易型外交"重塑全球规则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外交策略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不再基于战略同盟，而是通过关税大棒和利益交换解决问题（如中东和乌克兰的停火施压）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内政危机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美国的内部分裂在建国250周年之际达到顶峰，总统权力空前扩张，甚至可能动摇美联储的独立性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各国无法再依赖美国的"安全伞"，必须两头下注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特朗普2.0时代以"交易"取代"盟友价值观"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重创多边贸易体系并引发全球防御性对冲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传统盟友体系面临重构压力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地缘政治分析, 2026</a:t>
            </a:r>
          </a:p>
        </p:txBody>
      </p:sp>
      <p:pic>
        <p:nvPicPr>
          <p:cNvPr id="26" name="Picture 25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中国的战略机遇：以"确定性"赢取全球南方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外交信号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在2026年的APEC峰会上，中国将向亚洲传递"信任我们，而不是美国"的明确信号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出口韧性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面对关税壁垒，中国出口展现出极强韧性，过剩产能正迅速重新路由至东盟、拉美和非洲（对非零关税）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外交补位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中国在气候和AI外交上展现负责任大国形象，填补美国退群留下的真空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面对美国的不可预测性，中国以"确定性"抢占市场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AI/绿色技术输出加速布局全球南方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错位竞争策略初见成效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中国战略研究, 2026</a:t>
            </a:r>
          </a:p>
        </p:txBody>
      </p:sp>
      <p:pic>
        <p:nvPicPr>
          <p:cNvPr id="26" name="Picture 25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欧洲的被动觉醒：国防激增与极右翼崛起的双重夹击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国防繁荣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到2028年，欧洲国防支出将激增7000-8000亿欧元，部分国家需迈向3.5%的GDP目标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政治隐患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德国极右翼（AfD）可能突破"防火墙"进入州政府，法国面临民粹主义者执政的潜在宪政危机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由于失去美国的绝对保护，欧洲被迫重新武装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经济低迷正滋生政治动荡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冷战后最大规模的军事觉醒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欧洲政治经济分析,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灰地带博弈：战争与和平的界限日益模糊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区域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冲突形态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台湾海峡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中国大陆不太可能在2026年直接动武，但将加剧"蟒蛇战略"（Anaconda strategy），通过海警巡逻、无人机和切断海底电缆来窒息台湾经济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太空竞赛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中美俄将在太空展开军事角力，卫星监视与反卫星武器技术日益透明化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全面战争可能暂时被遏制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蟒蛇式封锁、破坏行动、太空军事化等"灰地带"冲突常态化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传统战争界限日益模糊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地缘安全研究,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宏观经济：平庸增长与潜伏的"债券危机"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风险点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通胀粘性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关税推高了美国的通胀基数（提升约1个百分点），限制了美联储降息的空间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债务危机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最危险的灰犀牛：发达经济体债务占GDP比例超110%，法国深陷预算危机，巨额赤字叠加AI基建狂潮引发的资本短缺，极易触发主权债券抛售恐慌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全球经济增速放缓至2.4%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创纪录的公共债务和高关税引发通胀粘性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债券市场成为最大风险点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全球经济展望,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供应链的非自愿重构与"关税生存学"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应对策略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区域化闭环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企业不再抱有幻想，28%的企业计划到2030年实现供应链的区域化闭环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成本对冲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为对冲关税成本提升，企业加速收缩并购并冻结招聘岗位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贸易萎缩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全球贸易的增长跌至不足2%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跨国企业放弃等待政策明朗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被迫通过涨价、裁员（借助AI）和供应链近岸化应对关税混乱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全球化进入"碎裂时代"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供应链研究报告, 2026</a:t>
            </a:r>
          </a:p>
        </p:txBody>
      </p:sp>
      <p:pic>
        <p:nvPicPr>
          <p:cNvPr id="26" name="Picture 25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大宗商品的"冰火两重天"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市场预期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看跌品类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受经济疲软和新产能投产影响，原油和粮食价格承压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看涨品类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由于地缘政治焦虑和通胀威胁，黄金可能突破4500美元/盎司；铜等清洁能源相关金属因关税和电网需求剧烈波动并看涨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大宗商品市场出现严重分化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化石燃料过剩，黄金与绿色转型金属迎来结构性牛市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地缘政治与能源转型共同重塑商品格局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大宗商品市场分析,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印度与新兴市场的经济洗牌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国家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印度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GDP迎来里程碑，超越日本成为全球第四大经济体；其16年来首次的全国人口普查将深刻重塑种姓配额、女性政治参与权和国内选区版图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阿根廷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米莱改革展现出新兴市场通过激进国内改革寻求突围的潜力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越南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1772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全面私营部门改革，成为供应链替代的重要力量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印度在2026年将超越日本成为全球第四大经济体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但人均GDP与生活质量的鸿沟依然巨大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激进改革成为新兴市场突围新路径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新兴市场研究, 2026</a:t>
            </a:r>
          </a:p>
        </p:txBody>
      </p:sp>
      <p:pic>
        <p:nvPicPr>
          <p:cNvPr id="26" name="Picture 25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 的大考之年：从"烧钱买算力"到"证明投资回报"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风险点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估值风险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如果AI的效率提升迟迟无法体现在企业财报中，极其昂贵的科技股估值将面临破灭风险，并可能拖累美国整体经济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落地挑战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企业AI试点失败率曾高达95%，2026年重点是推广能完成端到端任务的"AI智能体（Agents）"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科技巨头在AI基建上砸下数千亿美元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2026年市场将无情拷问AI在企业端实际的"生产力转化率"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从概念验证转向ROI落地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AI行业研究报告,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职场阶梯的断裂：AI "屠杀" 初级白领岗位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群体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初级白领（22-25岁）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最易受AI冲击的群体（如初级代码、客服），其就业率已出现双位数下滑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高管与资深员工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获得了AI带来的杠杆赋能，而公司减少了初级招聘，导致新人失去成长的"垫脚石"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应届毕业生面临地狱模式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AI不仅替代了初级岗位，更将企业组织架构从"金字塔型"压缩为"钻石型"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人才成长路径面临重构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劳动力市场研究,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中国科技的"非对称竞争"：绕过封锁与"AI+"落地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芯片自强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中国企业通过FP8等低精度数据格式和软硬件结合，极大弥补了高端光刻机缺失的短板，华为、寒武纪等国内AI芯片份额将突破50%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错位竞争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美国追求AGI（通用人工智能），而中国通过第15个五年计划主推"AI+"，致力于将AI如电力般迅速嵌入工业、医疗和数字政府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面对美国的芯片禁令，中国并未退缩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算力效率优化与行业大模型应用跑出"中国速度"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差异化竞争路径初见成效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中国科技产业分析,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具身智能（Embodied AI）与人形机器人的爆发前夜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突破点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具体进展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数据采集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仅靠虚拟环境无法解决机器人的"盲人体操运动员"困境；企业（如1x, Tesla）正通过将数万台机器人投放市场来获取真实的物理交互数据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人形机器人走出实验室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通过进入家庭和工厂收集"物理世界数据"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推动自动化向实体经济渗透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机器人产业研究, 2026</a:t>
            </a:r>
          </a:p>
        </p:txBody>
      </p:sp>
      <p:pic>
        <p:nvPicPr>
          <p:cNvPr id="20" name="Picture 19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气候目标的失败与"超调（Overshoot）时代"的到来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政策转向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预防→适应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剩余的碳预算已耗尽，未来政策重点将从"预防"转向"适应"以及极度昂贵的"碳捕获技术（负排放）"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地热能突破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地热能凭借"增强型地热系统（EGS）"的压裂技术突破，将超越核能潜力，成为基荷清洁能源的黑马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1.5°C的气候变暖防线在2026年将大概率被正式突破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全球被迫进入昂贵且危险的气候"超调"期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适应与负排放成为新焦点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气候变化研究,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"主权与领土解绑"：全球首批气候难民诞生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图瓦卢迁移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海平面上升正在重塑国际法，图瓦卢居民作为全球首批官方认证的气候难民正式迁往澳大利亚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主权新定义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国家的存在首次不再依赖于物理领土——即便被淹没，图瓦卢仍将保留联合国席位和庞大的海洋经济专属区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海平面上升正在重塑国际法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图瓦卢居民成为全球首批官方认证的气候难民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主权概念面临历史性重构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国际法与气候移民研究,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GLP-1 减肥药的"平民化"革命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价格下降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以司美格鲁肽为代表的专利在多个新兴市场到期，中国和印度的药企将以极低价格将减肥药推向全球（成本可能降低80%）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外溢效应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人们不仅吃得更少，连酒精和葡萄酒的消费量也在经历世俗化衰退（全球葡萄酒面临结构性下滑）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专利悬崖到来，廉价仿制药与口服剂型的普及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GLP-1减肥药真正惠及全球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颠覆医疗与消费格局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医药行业研究,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美国的大规模驱逐与移民倒退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3291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驱逐行动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78308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特朗普政府开启史无前例的大规模驱逐行动，严重损害美国的高等教育吸引力与科技人才储备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人才流失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00400"/>
            <a:ext cx="329184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驱逐行动和对国际留学生签证的收紧，导致美国科研机构流失大量顶尖大脑，直接削弱美国在AI和创新领域的长远竞争力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大规模驱逐严重损害美国高等教育吸引力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科技人才储备面临断层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削弱美国在AI和创新领域的长远竞争力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移民政策研究,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2026 年的赢家与输家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赢家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拥抱"AI+"进行降本增效的企业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国防军工巨头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印度/越南等供应链替代国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黄金与铜矿投资者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生产廉价减肥药的亚洲药企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输家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依赖美国补贴的欧洲整车厂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传统的葡萄酒与高糖食品生产商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缺乏经验的初级白领应届生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债台高筑的西方政府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全球趋势研究报告,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给高管的四大战略建议 (CEO Action Plan)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45003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地缘避险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45003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立即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放弃全球化幻想，建立"区域服务区域"的闭环供应链（Local for Local），对冲关税的突然袭击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371600"/>
            <a:ext cx="2545003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563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AI 的务实投资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9403" y="1920240"/>
            <a:ext cx="2545003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Q1-Q2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停止盲目追求大模型概念，考核AI投资的真实ROI，重塑以中高级人才为核心的"钻石型"敏捷组织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23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371600"/>
            <a:ext cx="2545003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财务护城河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1920240"/>
            <a:ext cx="2545003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全年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在政府债务危机和高利率隐患下，储备充足现金流（效仿伯克希尔哈撒韦），警惕主权债券爆雷引发的资金链断裂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171" y="1371600"/>
            <a:ext cx="2545003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捕捉新红利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171" y="1920240"/>
            <a:ext cx="2545003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331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全年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31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关注"老龄化+减肥药"引发的健康消费变革，以及"全球南方（Global South）"崛起带来的增量市场空间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491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331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战略咨询建议, 2026</a:t>
            </a:r>
          </a:p>
        </p:txBody>
      </p:sp>
      <p:pic>
        <p:nvPicPr>
          <p:cNvPr id="33" name="Picture 3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